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74" r:id="rId26"/>
    <p:sldId id="257" r:id="rId9"/>
    <p:sldId id="268" r:id="rId20"/>
    <p:sldId id="270" r:id="rId22"/>
    <p:sldId id="258" r:id="rId10"/>
    <p:sldId id="259" r:id="rId11"/>
    <p:sldId id="260" r:id="rId12"/>
    <p:sldId id="261" r:id="rId13"/>
    <p:sldId id="262" r:id="rId14"/>
    <p:sldId id="263" r:id="rId15"/>
    <p:sldId id="264" r:id="rId16"/>
    <p:sldId id="265" r:id="rId17"/>
    <p:sldId id="266" r:id="rId18"/>
    <p:sldId id="271" r:id="rId23"/>
    <p:sldId id="275" r:id="rId27"/>
    <p:sldId id="267" r:id="rId19"/>
    <p:sldId id="273" r:id="rId25"/>
    <p:sldId id="269" r:id="rId21"/>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Credit pull 1.5 s</c:v>
                </c:pt>
              </c:strCache>
            </c:strRef>
          </c:tx>
          <c:spPr>
            <a:solidFill>
              <a:srgbClr val="141514"/>
            </a:solidFill>
          </c:spPr>
          <c:cat>
            <c:strRef>
              <c:f>Sheet1!$A$2:$A$2</c:f>
              <c:strCache>
                <c:ptCount val="1"/>
                <c:pt idx="0">
                  <c:v/>
                </c:pt>
              </c:strCache>
            </c:strRef>
          </c:cat>
          <c:val>
            <c:numRef>
              <c:f>Sheet1!$B$2:$B$2</c:f>
              <c:numCache>
                <c:formatCode>General</c:formatCode>
                <c:ptCount val="1"/>
                <c:pt idx="0">
                  <c:v>1.5</c:v>
                </c:pt>
              </c:numCache>
            </c:numRef>
          </c:val>
        </c:ser>
        <c:ser>
          <c:idx val="1"/>
          <c:order val="1"/>
          <c:tx>
            <c:strRef>
              <c:f>Sheet1!$C$1</c:f>
              <c:strCache>
                <c:ptCount val="1"/>
                <c:pt idx="0">
                  <c:v>Hard stops 1.9 s</c:v>
                </c:pt>
              </c:strCache>
            </c:strRef>
          </c:tx>
          <c:spPr>
            <a:solidFill>
              <a:srgbClr val="565952"/>
            </a:solidFill>
          </c:spPr>
          <c:cat>
            <c:strRef>
              <c:f>Sheet1!$A$2:$A$2</c:f>
              <c:strCache>
                <c:ptCount val="1"/>
                <c:pt idx="0">
                  <c:v/>
                </c:pt>
              </c:strCache>
            </c:strRef>
          </c:cat>
          <c:val>
            <c:numRef>
              <c:f>Sheet1!$C$2:$C$2</c:f>
              <c:numCache>
                <c:formatCode>General</c:formatCode>
                <c:ptCount val="1"/>
                <c:pt idx="0">
                  <c:v>1.9</c:v>
                </c:pt>
              </c:numCache>
            </c:numRef>
          </c:val>
        </c:ser>
        <c:ser>
          <c:idx val="2"/>
          <c:order val="2"/>
          <c:tx>
            <c:strRef>
              <c:f>Sheet1!$D$1</c:f>
              <c:strCache>
                <c:ptCount val="1"/>
                <c:pt idx="0">
                  <c:v>Lenders ×5 27.7 s</c:v>
                </c:pt>
              </c:strCache>
            </c:strRef>
          </c:tx>
          <c:spPr>
            <a:solidFill>
              <a:srgbClr val="1C46C9"/>
            </a:solidFill>
          </c:spPr>
          <c:cat>
            <c:strRef>
              <c:f>Sheet1!$A$2:$A$2</c:f>
              <c:strCache>
                <c:ptCount val="1"/>
                <c:pt idx="0">
                  <c:v/>
                </c:pt>
              </c:strCache>
            </c:strRef>
          </c:cat>
          <c:val>
            <c:numRef>
              <c:f>Sheet1!$D$2:$D$2</c:f>
              <c:numCache>
                <c:formatCode>General</c:formatCode>
                <c:ptCount val="1"/>
                <c:pt idx="0">
                  <c:v>27.7</c:v>
                </c:pt>
              </c:numCache>
            </c:numRef>
          </c:val>
        </c:ser>
        <c:ser>
          <c:idx val="3"/>
          <c:order val="3"/>
          <c:tx>
            <c:strRef>
              <c:f>Sheet1!$E$1</c:f>
              <c:strCache>
                <c:ptCount val="1"/>
                <c:pt idx="0">
                  <c:v>Reason tests 1.8 s</c:v>
                </c:pt>
              </c:strCache>
            </c:strRef>
          </c:tx>
          <c:spPr>
            <a:solidFill>
              <a:srgbClr val="C9CBC4"/>
            </a:solidFill>
          </c:spPr>
          <c:cat>
            <c:strRef>
              <c:f>Sheet1!$A$2:$A$2</c:f>
              <c:strCache>
                <c:ptCount val="1"/>
                <c:pt idx="0">
                  <c:v/>
                </c:pt>
              </c:strCache>
            </c:strRef>
          </c:cat>
          <c:val>
            <c:numRef>
              <c:f>Sheet1!$E$2:$E$2</c:f>
              <c:numCache>
                <c:formatCode>General</c:formatCode>
                <c:ptCount val="1"/>
                <c:pt idx="0">
                  <c:v>1.8</c:v>
                </c:pt>
              </c:numCache>
            </c:numRef>
          </c:val>
        </c:ser>
        <c:ser>
          <c:idx val="4"/>
          <c:order val="4"/>
          <c:tx>
            <c:strRef>
              <c:f>Sheet1!$F$1</c:f>
              <c:strCache>
                <c:ptCount val="1"/>
                <c:pt idx="0">
                  <c:v>Notice 25.8 s</c:v>
                </c:pt>
              </c:strCache>
            </c:strRef>
          </c:tx>
          <c:spPr>
            <a:solidFill>
              <a:srgbClr val="FF5A1F"/>
            </a:solidFill>
          </c:spPr>
          <c:cat>
            <c:strRef>
              <c:f>Sheet1!$A$2:$A$2</c:f>
              <c:strCache>
                <c:ptCount val="1"/>
                <c:pt idx="0">
                  <c:v/>
                </c:pt>
              </c:strCache>
            </c:strRef>
          </c:cat>
          <c:val>
            <c:numRef>
              <c:f>Sheet1!$F$2:$F$2</c:f>
              <c:numCache>
                <c:formatCode>General</c:formatCode>
                <c:ptCount val="1"/>
                <c:pt idx="0">
                  <c:v>25.8</c:v>
                </c:pt>
              </c:numCache>
            </c:numRef>
          </c:val>
        </c:ser>
        <c:gapWidth val="30"/>
        <c:overlap val="100"/>
        <c:axId val="-2068027336"/>
        <c:axId val="-2113994440"/>
      </c:barChart>
      <c:catAx>
        <c:axId val="-2068027336"/>
        <c:scaling>
          <c:orientation val="minMax"/>
        </c:scaling>
        <c:delete/>
        <c:axPos val="l"/>
        <c:majorTickMark val="out"/>
        <c:minorTickMark val="none"/>
        <c:tickLblPos val="nextTo"/>
        <c:crossAx val="-2113994440"/>
        <c:crosses val="autoZero"/>
        <c:auto val="1"/>
        <c:lblAlgn val="ctr"/>
        <c:lblOffset val="100"/>
        <c:noMultiLvlLbl val="0"/>
      </c:catAx>
      <c:valAx>
        <c:axId val="-2113994440"/>
        <c:scaling>
          <c:max val="70.0"/>
          <c:min val="0.0"/>
        </c:scaling>
        <c:delete val="0"/>
        <c:axPos val="b"/>
        <c:majorTickMark val="out"/>
        <c:minorTickMark val="none"/>
        <c:tickLblPos val="nextTo"/>
        <c:spPr>
          <a:ln>
            <a:solidFill>
              <a:srgbClr val="C9CBC4"/>
            </a:solidFill>
          </a:ln>
        </c:spPr>
        <c:txPr>
          <a:bodyPr/>
          <a:lstStyle/>
          <a:p>
            <a:pPr>
              <a:defRPr sz="900">
                <a:latin typeface="Courier New"/>
              </a:defRPr>
            </a:pPr>
          </a:p>
        </c:txPr>
        <c:crossAx val="-2068027336"/>
        <c:crosses val="autoZero"/>
        <c:majorUnit val="10.0"/>
      </c:valAx>
    </c:plotArea>
    <c:legend>
      <c:legendPos val="b"/>
      <c:overlay val="0"/>
      <c:txPr>
        <a:bodyPr/>
        <a:lstStyle/>
        <a:p>
          <a:pPr>
            <a:defRPr sz="10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 (A) Docket is a one-person credit union: one loan officer leading a whole lending desk of agents. And every reason in a denial letter is tested.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(A) When a lender says no, the letter tells you almost nothing. Regulation B says 'internal standards' is not a reason. Nobody tests whether the stated reason drove the decision. We do. For two minutes, you are the borrower.</a:t>
            </a:r>
          </a:p>
          <a:p>
            <a:r>
              <a:t>IF ASKED: Regulation B, 12 CFR 1002.9(b)(2): 'internal standards or policies' is not a sufficient reason. FCRA section 615(a) requires naming the consumer reporting agency, the free report and the right to dispute.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(A) Six layers, one workflow. Code decides what the agents may touch, agents decide inside written policies, a person signs. (B) 'Draw a card. Type the four digits on the phone.' Leave this slide up while the judge types; the board shows the layers lighting up. Move on when the first offer lands. GENERAL VERSION: the layer slides are hidden. Stay on this slide for the whole demo (card code, credit pull, hard-stop card and override, offers, approve), pointing at each row as it happens, then go to the eval.</a:t>
            </a:r>
          </a:p>
          <a:p>
            <a:r>
              <a:t>IF ASKED: Code: convex/desk.ts (runDesk workflow), rules.ts, verify.ts, classify.ts, pii.ts. The next six slides take one layer each.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GENERAL VERSION (the demo runs on the six-layer slide). (B) 'That is your file from the CRS Credit API sandbox: TransUnion, Equifax, Experian, identity, fraud. Real sandbox responses, replayed for the demo; live pulls are one setting away. Your name, address and SSN never reach a model.'</a:t>
            </a:r>
          </a:p>
          <a:p>
            <a:r>
              <a:t>IF ASKED: convex/crs.ts and convex/pii.ts (allowlist projection, tested). The demo replays real CRS sandbox responses, captured live for all 20 personas on Oct 24 (convex/fixtures/crs). CRS_PROVIDER=crs switches to live soft pulls, about 3 s per persona, and the borrower's score doesn't move. The sandbox's TransUnion product returns VantageScore 4; the UI says 'TransUnion score'. Fields: credit.fico9, utilization, inquiries6mo, vantage4, flags.frozen, identity.verified, flags.deceased, fraud.score, flags.bankruptcy, flags.eviction, flags.lienOrJudgment.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GENERAL VERSION (the demo runs on the six-layer slide). (A) Before any lender saw it, four rules ran in code. Hand over the deceased card: 'Here is a bad day.' Board goes red. (B) 'A rule in code stopped this, not the model. Zero lenders, zero offers.' (A) 'Try to fund it anyway.' Judge taps Override. (B) 'Refused and logged.'</a:t>
            </a:r>
          </a:p>
          <a:p>
            <a:r>
              <a:t>IF ASKED: convex/rules.ts (8 unit tests) and desk:attemptOverride. Persona P14 (deceased indicator) is the demo card.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GENERAL VERSION (the demo runs on the six-layer slide). (A) Back to your file: five lenders, five written policies, one file, five independent answers. The agent has no pricing discretion; APR comes from the policy grid. Offers are ranked by cost to borrow. 'Pick one.' (B) approves: 'Nothing funds until a person signs.' If asked: lender and borrower want opposite things on price, so we do not let the agents negotiate. Five fixed policies compete and the borrower picks.</a:t>
            </a:r>
          </a:p>
          <a:p>
            <a:r>
              <a:t>IF ASKED: Policies are the literal prompt each agent receives: policies/{prime,regional,cu,fintech,subprime}.md. P18 outcome from personas/map.json. On CREAO, an unusable reply is re-run on Claude.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GENERAL VERSION (the demo runs on the six-layer slide). (A) Every reason in a decline was tested. Change only that field to a passing value, re-run the lender. If the decision flips, the reason stays. If not, it is withheld. Our own agents padded declines with 'score meets minimum'; this catches it.</a:t>
            </a:r>
          </a:p>
          <a:p>
            <a:r>
              <a:t>IF ASKED: convex/verify.ts and the reasonChecks table. Single-field flip first; leave-one-out for jointly sufficient reasons, gated by an all-fixed sanity run. Verification runs before the notice is written.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GENERAL VERSION (the demo runs on the six-layer slide). (A) Offer, counteroffer or decline is classified in code. The notice names CRS as the agency that did not make the decision. Dispute a tradeline and all five lenders re-run on the corrected file.</a:t>
            </a:r>
          </a:p>
          <a:p>
            <a:r>
              <a:t>IF ASKED: convex/classify.ts; desk:disputeTradeline replays the file. The notice is written by claude-sonnet-5-5 with the applicant's name inserted by code. Replay figures on the slide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HIDDEN IN THE GENERAL VERSION (the demo runs on the six-layer slide). (B) A person signs every offer and every notice. Convex runs the six layers as one durable workflow; live queries drive the phone and the board; the scheduler runs the eval nightly. Claude haiku-5-5 underwrites, sonnet-5-5 writes the notice.</a:t>
            </a:r>
          </a:p>
          <a:p>
            <a:r>
              <a:t>IF ASKED: convex/desk.ts, crons.ts, http.ts; web/ (Vite + React) routes #/board and #/borrower; live at docket-sepia-ten.vercel.app. Claude lender p50 about 3 s; on CREAO about 20 s per lender.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ALTERNATE for the Layer 6 slide just before it (hidden): unhide this one and hide that one if CREAO is entered. (B) Same flow; the five underwriter agents and the compliance agent run as CREAO hosted agents, with the Anthropic SDK as fallback.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1:45 (A) The persona deck is our test suite. 20 of 20 personas, 96 of 100 per-lender cells (the four open ones are all Harbor, an answer-key amount issue, not policy), 82% of reasons hold up. Consistency with our own key, not proof of fairness. Paired tests are next.</a:t>
            </a:r>
          </a:p>
          <a:p>
            <a:r>
              <a:t>IF ASKED: Cloud eval Oct 24 21:26: 20 personas x 5 lenders on CREAO with Claude fallback, scored against personas/map.json. 4 lender misses are Harbor cells where the key used a different loan amount. 85/85 lender answers valid (4 via fallback). Earlier Claude-direct run (09:31, 3 lenders): 20/20, 60/60, 84%.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 (A) 'Draw a card. Ask us what breaks.' Stop. Leave this slide up for Q&amp;A. We are Swaraj Adhikari from UCLA and Matthew Pun from UC Berkeley.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(A) Why agents and not more loan officers? Read the bold lines: days become a minute, the same file gets the same answer every time, time of day doesn't matter, every reason is tested, and it costs cents. A person still signs.</a:t>
            </a:r>
          </a:p>
          <a:p>
            <a:r>
              <a:t>IF ASKED: Time: Bankrate, banks and credit unions take 1 to 7 business days on a personal loan; ours is 62 s from card code to the officer's queue in the latest live run, hard stops in about 5 s. Consistency: Kahneman, Sibony and Sunstein, Noise (2021): 48 underwriters at an insurance company priced the same cases a median 55% apart; executives expected 10%. It's insurance, not lending, but it's the same job: a trained person applying written guidelines to a file. We re-ran the same applicants three times and every lender gave the same decision and APR. Fatigue: University of Cambridge study of about 26,500 loan restructuring requests (ScienceDaily, May 2021). Reasons: CFPB Supervisory Highlights, Winter 2020, cited notices that failed to disclose the principal reasons. Cost: BLS median loan officer wage $36.87 an hour (May 2025); our 3 cents is an estimate from prompt sizes and list prices, 8 cents worst case.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SAY: the title, then point at the two columns: every outcome right, no invalid answers, never an offer to a fraud or deceased file. Claude direct is the fast one.</a:t>
            </a:r>
          </a:p>
          <a:p>
            <a:r>
              <a:t>IF ASKED: Claude direct is the cloud eval of Oct 24 09:31 (20 personas, 3 lenders, claude-haiku-5-5). CREAO + fallback is the cloud eval of Oct 24 21:26 (20 personas, 5 lenders, all at once), scored against the five-lender answer key; when a CREAO reply is unusable the same lender is re-run on Claude and logged, which happened 4 times in 85. The 4 lender misses are all Harbor and come from the answer key using a different loan amount, not a wrong decision. Speed: 20 s per lender in a single live run, 58 s with 20 applications at once. Repeat runs: four full Claude evals, 80 persona runs, 78 matched; both misses were one persona before a rule change that night. The answer key is ours, so this is consistency with our policy, not proof of fairness.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(A) Speed is the biggest reason. About a minute instead of 1 to 7 business days, and a fraud file stops in 5 seconds. The officer reviews instead of assembling. Now let's show you.</a:t>
            </a:r>
          </a:p>
          <a:p>
            <a:r>
              <a:t>IF ASKED: 62 s is one live application on the cloud desk after the CREAO fix (Oct 24 20:58): pull 1.5 s, hard stops 1.9 s, five lenders 27.7 s, reason tests 1.8 s, notice 25.8 s. The pull replayed saved CRS sandbox responses; a live pull takes about 3 s. Hard stops: median of 3 cloud runs, about 5 s. Most of the minute is the agents on CREAO hosting; called directly, a Claude lender answers in 2.7 s. Under load, 20 applications at once finished in about 2.5 minutes. Human figure: Bankrate, personal loan approval timelines.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(B) Our data comes from CRS: all three bureaus in days, not months. Anyone can call CRS, so that's our head start. The moat is the tested decisions we build on top, and it grows with every file a credit union runs through Docket.</a:t>
            </a:r>
          </a:p>
          <a:p>
            <a:r>
              <a:t>IF ASKED: CRS figures are vendor-stated (crscreditapi.com and its developer guide): all three bureaus plus identity, fraud and public records in one normalized response; credentialing 'in days, instead of months'; 2,000+ companies and 40M+ pulls; sandbox mirrors production. Docket assets: five lender policies written as prompts with a code mirror (policies/), counterfactual reason tests (convex/verify.ts), a 20-persona answer key scored nightly (personas/map.json), and the audit log of every pull, decision, tested reason and refused override.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 Docket number is from logged runs on our cloud deployment on Oct 24; every human number is a published source. The two honest weak spots: the answer key is ours, and the 55% study measured insurance underwriters, not loan officers.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Everything after this slide is for questions, not for the talk.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0:05 (A) $281 billion in personal loans outstanding, a record, and about one in six people who apply for credit get turned down. Every one of those gets a letter, and the letter tells them almost nothing. That's what's broken.</a:t>
            </a:r>
          </a:p>
          <a:p>
            <a:r>
              <a:t>IF ASKED: $281B and 26.9M borrowers: TransUnion Q2 2026 Credit Industry Insights Report (record, up 9.6% year over year). 1 in 6: New York Fed SCE Credit Access Survey, June 2026, 16.1% of credit applicants rejected in the past 12 months (any kind of credit). 4,214 federally insured credit unions: NCUA Quarterly Credit Union Data Summary, Q2 2026.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 (B) Who pays: credit unions and community banks. What they pay: we propose $5 per decided application, with the tested reasons and the notice included; a credit union deciding 500 a month pays $2,500. Model cost is about 3 cents, under 1% of the price. And every new lender is just a new policy file, same agents. Next: outside lenders plug in, and we earn a referral fee on funded loans.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2286000"/>
            <a:ext cx="457200" cy="4572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75588" y="2087880"/>
            <a:ext cx="28968192" cy="853439"/>
          </a:xfrm>
          <a:prstGeom prst="rect">
            <a:avLst/>
          </a:prstGeom>
          <a:noFill/>
        </p:spPr>
        <p:txBody>
          <a:bodyPr wrap="none" lIns="0" rIns="0" tIns="0" bIns="0" anchor="ctr">
            <a:spAutoFit/>
          </a:bodyPr>
          <a:lstStyle/>
          <a:p>
            <a:pPr algn="l">
              <a:lnSpc>
                <a:spcPct val="100000"/>
              </a:lnSpc>
            </a:pPr>
            <a:r>
              <a:rPr sz="4800" b="1">
                <a:solidFill>
                  <a:srgbClr val="141514"/>
                </a:solidFill>
                <a:latin typeface="Arial"/>
              </a:rPr>
              <a:t>DOCKET</a:t>
            </a:r>
          </a:p>
        </p:txBody>
      </p:sp>
      <p:sp>
        <p:nvSpPr>
          <p:cNvPr id="4" name="TextBox 3"/>
          <p:cNvSpPr txBox="1"/>
          <p:nvPr/>
        </p:nvSpPr>
        <p:spPr>
          <a:xfrm>
            <a:off x="612648" y="3154680"/>
            <a:ext cx="9601200" cy="640080"/>
          </a:xfrm>
          <a:prstGeom prst="rect">
            <a:avLst/>
          </a:prstGeom>
          <a:noFill/>
        </p:spPr>
        <p:txBody>
          <a:bodyPr wrap="square" lIns="0" rIns="0" tIns="0" bIns="0" anchor="t">
            <a:spAutoFit/>
          </a:bodyPr>
          <a:lstStyle/>
          <a:p>
            <a:pPr algn="l">
              <a:lnSpc>
                <a:spcPct val="115000"/>
              </a:lnSpc>
            </a:pPr>
            <a:r>
              <a:rPr sz="2800" b="1">
                <a:solidFill>
                  <a:srgbClr val="141514"/>
                </a:solidFill>
                <a:latin typeface="Arial"/>
              </a:rPr>
              <a:t>One loan officer leading a whole lending desk of agents.</a:t>
            </a:r>
          </a:p>
        </p:txBody>
      </p:sp>
      <p:sp>
        <p:nvSpPr>
          <p:cNvPr id="5" name="TextBox 4"/>
          <p:cNvSpPr txBox="1"/>
          <p:nvPr/>
        </p:nvSpPr>
        <p:spPr>
          <a:xfrm>
            <a:off x="612648" y="3931920"/>
            <a:ext cx="7498079" cy="731520"/>
          </a:xfrm>
          <a:prstGeom prst="rect">
            <a:avLst/>
          </a:prstGeom>
          <a:noFill/>
        </p:spPr>
        <p:txBody>
          <a:bodyPr wrap="square" lIns="0" rIns="0" tIns="0" bIns="0" anchor="t">
            <a:spAutoFit/>
          </a:bodyPr>
          <a:lstStyle/>
          <a:p>
            <a:pPr algn="l">
              <a:lnSpc>
                <a:spcPct val="130000"/>
              </a:lnSpc>
            </a:pPr>
            <a:r>
              <a:rPr sz="1400" b="0">
                <a:solidFill>
                  <a:srgbClr val="565952"/>
                </a:solidFill>
                <a:latin typeface="Arial"/>
              </a:rPr>
              <a:t>A one-person credit union. Six layers, one workflow: code decides what agents may see, agents decide inside written policies, a person signs.</a:t>
            </a:r>
          </a:p>
        </p:txBody>
      </p:sp>
      <p:sp>
        <p:nvSpPr>
          <p:cNvPr id="6" name="TextBox 5"/>
          <p:cNvSpPr txBox="1"/>
          <p:nvPr/>
        </p:nvSpPr>
        <p:spPr>
          <a:xfrm>
            <a:off x="612648" y="6199632"/>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CAL HACKS 13.0 · OCTOBER 2026</a:t>
            </a:r>
          </a:p>
        </p:txBody>
      </p:sp>
      <p:sp>
        <p:nvSpPr>
          <p:cNvPr id="7" name="TextBox 6"/>
          <p:cNvSpPr txBox="1"/>
          <p:nvPr/>
        </p:nvSpPr>
        <p:spPr>
          <a:xfrm>
            <a:off x="6092647" y="6199632"/>
            <a:ext cx="5486400" cy="228600"/>
          </a:xfrm>
          <a:prstGeom prst="rect">
            <a:avLst/>
          </a:prstGeom>
          <a:noFill/>
        </p:spPr>
        <p:txBody>
          <a:bodyPr wrap="square" lIns="0" rIns="0" tIns="0" bIns="0" anchor="t">
            <a:spAutoFit/>
          </a:bodyPr>
          <a:lstStyle/>
          <a:p>
            <a:pPr algn="r">
              <a:lnSpc>
                <a:spcPct val="115000"/>
              </a:lnSpc>
            </a:pPr>
            <a:r>
              <a:rPr sz="900" b="0">
                <a:solidFill>
                  <a:srgbClr val="565952"/>
                </a:solidFill>
                <a:latin typeface="Courier New"/>
              </a:rPr>
              <a:t>SWARAJ ADHIKARI, UCLA · MATTHEW PUN, UC BERKELEY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When a lender says no, the letter tells the borrower NOTHING!</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3</a:t>
            </a:r>
          </a:p>
        </p:txBody>
      </p:sp>
      <p:sp>
        <p:nvSpPr>
          <p:cNvPr id="12" name="Rectangle 11"/>
          <p:cNvSpPr/>
          <p:nvPr/>
        </p:nvSpPr>
        <p:spPr>
          <a:xfrm>
            <a:off x="612648" y="1292352"/>
            <a:ext cx="5212080" cy="2824456"/>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1574797"/>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A TYPICAL DECLINE LETTER</a:t>
            </a:r>
          </a:p>
        </p:txBody>
      </p:sp>
      <p:sp>
        <p:nvSpPr>
          <p:cNvPr id="14" name="TextBox 13"/>
          <p:cNvSpPr txBox="1"/>
          <p:nvPr/>
        </p:nvSpPr>
        <p:spPr>
          <a:xfrm>
            <a:off x="841248" y="2139689"/>
            <a:ext cx="4754880" cy="868680"/>
          </a:xfrm>
          <a:prstGeom prst="rect">
            <a:avLst/>
          </a:prstGeom>
          <a:noFill/>
        </p:spPr>
        <p:txBody>
          <a:bodyPr wrap="square" lIns="0" rIns="0" tIns="0" bIns="0" anchor="t">
            <a:spAutoFit/>
          </a:bodyPr>
          <a:lstStyle/>
          <a:p>
            <a:pPr algn="l">
              <a:lnSpc>
                <a:spcPct val="130000"/>
              </a:lnSpc>
            </a:pPr>
            <a:r>
              <a:rPr sz="1850" b="0">
                <a:solidFill>
                  <a:srgbClr val="141514"/>
                </a:solidFill>
                <a:latin typeface="Arial"/>
              </a:rPr>
              <a:t>We are unable to approve your application at this time.</a:t>
            </a:r>
          </a:p>
          <a:p>
            <a:pPr algn="l">
              <a:lnSpc>
                <a:spcPct val="130000"/>
              </a:lnSpc>
            </a:pPr>
            <a:r>
              <a:rPr sz="1850" b="0">
                <a:solidFill>
                  <a:srgbClr val="141514"/>
                </a:solidFill>
                <a:latin typeface="Arial"/>
              </a:rPr>
              <a:t>Reason: </a:t>
            </a:r>
            <a:r>
              <a:rPr sz="1850" b="1">
                <a:solidFill>
                  <a:srgbClr val="FF5A1F"/>
                </a:solidFill>
                <a:latin typeface="Arial"/>
              </a:rPr>
              <a:t>internal standards.</a:t>
            </a:r>
          </a:p>
        </p:txBody>
      </p:sp>
      <p:sp>
        <p:nvSpPr>
          <p:cNvPr id="15" name="TextBox 14"/>
          <p:cNvSpPr txBox="1"/>
          <p:nvPr/>
        </p:nvSpPr>
        <p:spPr>
          <a:xfrm>
            <a:off x="612648" y="4587552"/>
            <a:ext cx="5212080" cy="365760"/>
          </a:xfrm>
          <a:prstGeom prst="rect">
            <a:avLst/>
          </a:prstGeom>
          <a:noFill/>
        </p:spPr>
        <p:txBody>
          <a:bodyPr wrap="square" lIns="0" rIns="0" tIns="0" bIns="0" anchor="t">
            <a:spAutoFit/>
          </a:bodyPr>
          <a:lstStyle/>
          <a:p>
            <a:pPr algn="l">
              <a:lnSpc>
                <a:spcPct val="115000"/>
              </a:lnSpc>
            </a:pPr>
            <a:r>
              <a:rPr sz="1500" b="1">
                <a:solidFill>
                  <a:srgbClr val="141514"/>
                </a:solidFill>
                <a:latin typeface="Arial"/>
              </a:rPr>
              <a:t>That isn't a reason, and the law says so.</a:t>
            </a:r>
          </a:p>
        </p:txBody>
      </p:sp>
      <p:sp>
        <p:nvSpPr>
          <p:cNvPr id="16" name="TextBox 15"/>
          <p:cNvSpPr txBox="1"/>
          <p:nvPr/>
        </p:nvSpPr>
        <p:spPr>
          <a:xfrm>
            <a:off x="612648" y="4935024"/>
            <a:ext cx="521208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Regulation B rules out "internal standards" as a reason for a no.</a:t>
            </a:r>
          </a:p>
        </p:txBody>
      </p:sp>
      <p:sp>
        <p:nvSpPr>
          <p:cNvPr id="17" name="TextBox 16"/>
          <p:cNvSpPr txBox="1"/>
          <p:nvPr/>
        </p:nvSpPr>
        <p:spPr>
          <a:xfrm>
            <a:off x="6281928" y="1292352"/>
            <a:ext cx="52971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WHAT THE LAW REQUIRES INSTEAD</a:t>
            </a:r>
          </a:p>
        </p:txBody>
      </p:sp>
      <p:sp>
        <p:nvSpPr>
          <p:cNvPr id="18" name="TextBox 17"/>
          <p:cNvSpPr txBox="1"/>
          <p:nvPr/>
        </p:nvSpPr>
        <p:spPr>
          <a:xfrm>
            <a:off x="6281928" y="1730356"/>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The real reasons</a:t>
            </a:r>
          </a:p>
        </p:txBody>
      </p:sp>
      <p:sp>
        <p:nvSpPr>
          <p:cNvPr id="19" name="TextBox 18"/>
          <p:cNvSpPr txBox="1"/>
          <p:nvPr/>
        </p:nvSpPr>
        <p:spPr>
          <a:xfrm>
            <a:off x="6281928" y="1995532"/>
            <a:ext cx="529711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Specific to this file</a:t>
            </a:r>
          </a:p>
        </p:txBody>
      </p:sp>
      <p:sp>
        <p:nvSpPr>
          <p:cNvPr id="20" name="TextBox 19"/>
          <p:cNvSpPr txBox="1"/>
          <p:nvPr/>
        </p:nvSpPr>
        <p:spPr>
          <a:xfrm>
            <a:off x="6281928" y="2606365"/>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Who supplied the data</a:t>
            </a:r>
          </a:p>
        </p:txBody>
      </p:sp>
      <p:sp>
        <p:nvSpPr>
          <p:cNvPr id="21" name="TextBox 20"/>
          <p:cNvSpPr txBox="1"/>
          <p:nvPr/>
        </p:nvSpPr>
        <p:spPr>
          <a:xfrm>
            <a:off x="6281928" y="2871541"/>
            <a:ext cx="529711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And that they didn't make the decision</a:t>
            </a:r>
          </a:p>
        </p:txBody>
      </p:sp>
      <p:sp>
        <p:nvSpPr>
          <p:cNvPr id="22" name="TextBox 21"/>
          <p:cNvSpPr txBox="1"/>
          <p:nvPr/>
        </p:nvSpPr>
        <p:spPr>
          <a:xfrm>
            <a:off x="6281928" y="3482374"/>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 free report and the right to dispute</a:t>
            </a:r>
          </a:p>
        </p:txBody>
      </p:sp>
      <p:sp>
        <p:nvSpPr>
          <p:cNvPr id="23" name="TextBox 22"/>
          <p:cNvSpPr txBox="1"/>
          <p:nvPr/>
        </p:nvSpPr>
        <p:spPr>
          <a:xfrm>
            <a:off x="6281928" y="4504385"/>
            <a:ext cx="52971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WHY IT'S HARD</a:t>
            </a:r>
          </a:p>
        </p:txBody>
      </p:sp>
      <p:sp>
        <p:nvSpPr>
          <p:cNvPr id="24" name="TextBox 23"/>
          <p:cNvSpPr txBox="1"/>
          <p:nvPr/>
        </p:nvSpPr>
        <p:spPr>
          <a:xfrm>
            <a:off x="6281928" y="4898590"/>
            <a:ext cx="529711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Nobody checks the reasons</a:t>
            </a:r>
          </a:p>
        </p:txBody>
      </p:sp>
      <p:sp>
        <p:nvSpPr>
          <p:cNvPr id="25" name="TextBox 24"/>
          <p:cNvSpPr txBox="1"/>
          <p:nvPr/>
        </p:nvSpPr>
        <p:spPr>
          <a:xfrm>
            <a:off x="6281928" y="5163766"/>
            <a:ext cx="529711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Asked to explain a no, an AI pads the letter with true but irrelevant facts</a:t>
            </a:r>
          </a:p>
        </p:txBody>
      </p:sp>
      <p:sp>
        <p:nvSpPr>
          <p:cNvPr id="26"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Docket's claim: a lending desk where every reason in the letter has been tested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Docket is a six-layer workflow: code decides what agents may touch, agents decide inside policies, and a person only needs a quick finalization.</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6</a:t>
            </a:r>
          </a:p>
        </p:txBody>
      </p:sp>
      <p:graphicFrame>
        <p:nvGraphicFramePr>
          <p:cNvPr id="12" name="Table 11"/>
          <p:cNvGraphicFramePr>
            <a:graphicFrameLocks noGrp="1"/>
          </p:cNvGraphicFramePr>
          <p:nvPr/>
        </p:nvGraphicFramePr>
        <p:xfrm>
          <a:off x="612648" y="1633728"/>
          <a:ext cx="10972800" cy="3911974"/>
        </p:xfrm>
        <a:graphic>
          <a:graphicData uri="http://schemas.openxmlformats.org/drawingml/2006/table">
            <a:tbl>
              <a:tblPr firstRow="0" bandRow="0">
                <a:tableStyleId>{2D5ABB26-0587-4C30-8999-92F81FD0307C}</a:tableStyleId>
              </a:tblPr>
              <a:tblGrid>
                <a:gridCol w="411480"/>
                <a:gridCol w="1920240"/>
                <a:gridCol w="7269480"/>
                <a:gridCol w="1371600"/>
              </a:tblGrid>
              <a:tr h="327604">
                <a:tc>
                  <a:txBody>
                    <a:bodyPr wrap="square"/>
                    <a:lstStyle/>
                    <a:p>
                      <a:r>
                        <a:rPr sz="850" b="0">
                          <a:solidFill>
                            <a:srgbClr val="565952"/>
                          </a:solidFill>
                          <a:latin typeface="Courier New"/>
                        </a:rPr>
                        <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850" b="0">
                          <a:solidFill>
                            <a:srgbClr val="565952"/>
                          </a:solidFill>
                          <a:latin typeface="Courier New"/>
                        </a:rPr>
                        <a:t>LAYER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850" b="0">
                          <a:solidFill>
                            <a:srgbClr val="565952"/>
                          </a:solidFill>
                          <a:latin typeface="Courier New"/>
                        </a:rPr>
                        <a:t>WHAT IT GUARANTEES</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850" b="0">
                          <a:solidFill>
                            <a:srgbClr val="565952"/>
                          </a:solidFill>
                          <a:latin typeface="Courier New"/>
                        </a:rPr>
                        <a:t>WHO DECIDES</a:t>
                      </a:r>
                    </a:p>
                  </a:txBody>
                  <a:tcPr marL="0" marR="91440" marT="0" marB="45720" anchor="b">
                    <a:noFill/>
                    <a:lnL w="0">
                      <a:noFill/>
                    </a:lnL>
                    <a:lnR w="0">
                      <a:noFill/>
                    </a:lnR>
                    <a:lnT w="0">
                      <a:noFill/>
                    </a:lnT>
                    <a:lnB w="15875" cap="flat" cmpd="sng" algn="ctr">
                      <a:solidFill>
                        <a:srgbClr val="141514"/>
                      </a:solidFill>
                      <a:prstDash val="solid"/>
                    </a:lnB>
                  </a:tcPr>
                </a:tc>
              </a:tr>
              <a:tr h="597395">
                <a:tc>
                  <a:txBody>
                    <a:bodyPr wrap="square"/>
                    <a:lstStyle/>
                    <a:p>
                      <a:r>
                        <a:rPr sz="900" b="0">
                          <a:solidFill>
                            <a:srgbClr val="565952"/>
                          </a:solidFill>
                          <a:latin typeface="Courier New"/>
                        </a:rPr>
                        <a:t>1</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Credit pull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Every lender sees the same file, with no identity in it</a:t>
                      </a:r>
                    </a:p>
                    <a:p>
                      <a:pPr>
                        <a:spcBef>
                          <a:spcPts val="200"/>
                        </a:spcBef>
                      </a:pPr>
                      <a:r>
                        <a:rPr sz="1050" b="0">
                          <a:solidFill>
                            <a:srgbClr val="565952"/>
                          </a:solidFill>
                          <a:latin typeface="Arial"/>
                        </a:rPr>
                        <a:t>Real CRS sandbox data, replayed. No name, address, ZIP or SSN ever reaches a model.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141514"/>
                          </a:solidFill>
                          <a:latin typeface="Courier New"/>
                        </a:rPr>
                        <a:t>Code</a:t>
                      </a:r>
                    </a:p>
                  </a:txBody>
                  <a:tcPr marL="73152" marR="91440" marT="45720" marB="45720" anchor="ctr">
                    <a:noFill/>
                    <a:lnL w="9525" cap="flat" cmpd="sng" algn="ctr">
                      <a:solidFill>
                        <a:srgbClr val="141514"/>
                      </a:solidFill>
                      <a:prstDash val="solid"/>
                    </a:lnL>
                    <a:lnR w="9525" cap="flat" cmpd="sng" algn="ctr">
                      <a:solidFill>
                        <a:srgbClr val="141514"/>
                      </a:solidFill>
                      <a:prstDash val="solid"/>
                    </a:lnR>
                    <a:lnT w="9525" cap="flat" cmpd="sng" algn="ctr">
                      <a:solidFill>
                        <a:srgbClr val="141514"/>
                      </a:solidFill>
                      <a:prstDash val="solid"/>
                    </a:lnT>
                    <a:lnB w="9525" cap="flat" cmpd="sng" algn="ctr">
                      <a:solidFill>
                        <a:srgbClr val="141514"/>
                      </a:solidFill>
                      <a:prstDash val="solid"/>
                    </a:lnB>
                  </a:tcPr>
                </a:tc>
              </a:tr>
              <a:tr h="597395">
                <a:tc>
                  <a:txBody>
                    <a:bodyPr wrap="square"/>
                    <a:lstStyle/>
                    <a:p>
                      <a:r>
                        <a:rPr sz="900" b="0">
                          <a:solidFill>
                            <a:srgbClr val="565952"/>
                          </a:solidFill>
                          <a:latin typeface="Courier New"/>
                        </a:rPr>
                        <a:t>2</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Hard stops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Risky files stop before any AI sees them</a:t>
                      </a:r>
                    </a:p>
                    <a:p>
                      <a:pPr>
                        <a:spcBef>
                          <a:spcPts val="200"/>
                        </a:spcBef>
                      </a:pPr>
                      <a:r>
                        <a:rPr sz="1050" b="0">
                          <a:solidFill>
                            <a:srgbClr val="565952"/>
                          </a:solidFill>
                          <a:latin typeface="Arial"/>
                        </a:rPr>
                        <a:t>Deceased, unscorable, identity fail or fraud ≥ 80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141514"/>
                          </a:solidFill>
                          <a:latin typeface="Courier New"/>
                        </a:rPr>
                        <a:t>Code</a:t>
                      </a:r>
                    </a:p>
                  </a:txBody>
                  <a:tcPr marL="73152" marR="91440" marT="45720" marB="45720" anchor="ctr">
                    <a:noFill/>
                    <a:lnL w="9525" cap="flat" cmpd="sng" algn="ctr">
                      <a:solidFill>
                        <a:srgbClr val="141514"/>
                      </a:solidFill>
                      <a:prstDash val="solid"/>
                    </a:lnL>
                    <a:lnR w="9525" cap="flat" cmpd="sng" algn="ctr">
                      <a:solidFill>
                        <a:srgbClr val="141514"/>
                      </a:solidFill>
                      <a:prstDash val="solid"/>
                    </a:lnR>
                    <a:lnT w="9525" cap="flat" cmpd="sng" algn="ctr">
                      <a:solidFill>
                        <a:srgbClr val="141514"/>
                      </a:solidFill>
                      <a:prstDash val="solid"/>
                    </a:lnT>
                    <a:lnB w="9525" cap="flat" cmpd="sng" algn="ctr">
                      <a:solidFill>
                        <a:srgbClr val="141514"/>
                      </a:solidFill>
                      <a:prstDash val="solid"/>
                    </a:lnB>
                  </a:tcPr>
                </a:tc>
              </a:tr>
              <a:tr h="597395">
                <a:tc>
                  <a:txBody>
                    <a:bodyPr wrap="square"/>
                    <a:lstStyle/>
                    <a:p>
                      <a:r>
                        <a:rPr sz="900" b="0">
                          <a:solidFill>
                            <a:srgbClr val="565952"/>
                          </a:solidFill>
                          <a:latin typeface="Courier New"/>
                        </a:rPr>
                        <a:t>3</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Underwriters ×5</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Five lenders decide in parallel</a:t>
                      </a:r>
                    </a:p>
                    <a:p>
                      <a:pPr>
                        <a:spcBef>
                          <a:spcPts val="200"/>
                        </a:spcBef>
                      </a:pPr>
                      <a:r>
                        <a:rPr sz="1050" b="0">
                          <a:solidFill>
                            <a:srgbClr val="565952"/>
                          </a:solidFill>
                          <a:latin typeface="Arial"/>
                        </a:rPr>
                        <a:t>Five written policies. Prices come from policy instead of agents.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FFFFFF"/>
                          </a:solidFill>
                          <a:latin typeface="Courier New"/>
                        </a:rPr>
                        <a:t>Agent</a:t>
                      </a:r>
                    </a:p>
                  </a:txBody>
                  <a:tcPr marL="73152" marR="91440" marT="45720" marB="45720" anchor="ctr">
                    <a:lnL w="0">
                      <a:noFill/>
                    </a:lnL>
                    <a:lnR w="0">
                      <a:noFill/>
                    </a:lnR>
                    <a:lnT w="0">
                      <a:noFill/>
                    </a:lnT>
                    <a:lnB w="9525" cap="flat" cmpd="sng" algn="ctr">
                      <a:solidFill>
                        <a:srgbClr val="C9CBC4"/>
                      </a:solidFill>
                      <a:prstDash val="solid"/>
                    </a:lnB>
                    <a:solidFill>
                      <a:srgbClr val="1C46C9"/>
                    </a:solidFill>
                  </a:tcPr>
                </a:tc>
              </a:tr>
              <a:tr h="597395">
                <a:tc>
                  <a:txBody>
                    <a:bodyPr wrap="square"/>
                    <a:lstStyle/>
                    <a:p>
                      <a:r>
                        <a:rPr sz="900" b="0">
                          <a:solidFill>
                            <a:srgbClr val="565952"/>
                          </a:solidFill>
                          <a:latin typeface="Courier New"/>
                        </a:rPr>
                        <a:t>4</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Verify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Every reason is tested</a:t>
                      </a:r>
                    </a:p>
                    <a:p>
                      <a:pPr>
                        <a:spcBef>
                          <a:spcPts val="200"/>
                        </a:spcBef>
                      </a:pPr>
                      <a:r>
                        <a:rPr sz="1050" b="0">
                          <a:solidFill>
                            <a:srgbClr val="565952"/>
                          </a:solidFill>
                          <a:latin typeface="Arial"/>
                        </a:rPr>
                        <a:t>Each denial reason is re-tested by flipping only that field. Mistaken reasons that don't change the decision are withheld.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141514"/>
                          </a:solidFill>
                          <a:latin typeface="Courier New"/>
                        </a:rPr>
                        <a:t>Code</a:t>
                      </a:r>
                    </a:p>
                  </a:txBody>
                  <a:tcPr marL="73152" marR="91440" marT="45720" marB="45720" anchor="ctr">
                    <a:noFill/>
                    <a:lnL w="9525" cap="flat" cmpd="sng" algn="ctr">
                      <a:solidFill>
                        <a:srgbClr val="141514"/>
                      </a:solidFill>
                      <a:prstDash val="solid"/>
                    </a:lnL>
                    <a:lnR w="9525" cap="flat" cmpd="sng" algn="ctr">
                      <a:solidFill>
                        <a:srgbClr val="141514"/>
                      </a:solidFill>
                      <a:prstDash val="solid"/>
                    </a:lnR>
                    <a:lnT w="9525" cap="flat" cmpd="sng" algn="ctr">
                      <a:solidFill>
                        <a:srgbClr val="141514"/>
                      </a:solidFill>
                      <a:prstDash val="solid"/>
                    </a:lnT>
                    <a:lnB w="9525" cap="flat" cmpd="sng" algn="ctr">
                      <a:solidFill>
                        <a:srgbClr val="141514"/>
                      </a:solidFill>
                      <a:prstDash val="solid"/>
                    </a:lnB>
                  </a:tcPr>
                </a:tc>
              </a:tr>
              <a:tr h="597395">
                <a:tc>
                  <a:txBody>
                    <a:bodyPr wrap="square"/>
                    <a:lstStyle/>
                    <a:p>
                      <a:r>
                        <a:rPr sz="900" b="0">
                          <a:solidFill>
                            <a:srgbClr val="565952"/>
                          </a:solidFill>
                          <a:latin typeface="Courier New"/>
                        </a:rPr>
                        <a:t>5</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250" b="1">
                          <a:solidFill>
                            <a:srgbClr val="141514"/>
                          </a:solidFill>
                          <a:latin typeface="Arial"/>
                        </a:rPr>
                        <a:t>Notice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The letter uses only tested reasons</a:t>
                      </a:r>
                    </a:p>
                    <a:p>
                      <a:pPr>
                        <a:spcBef>
                          <a:spcPts val="200"/>
                        </a:spcBef>
                      </a:pPr>
                      <a:r>
                        <a:rPr sz="1050" b="0">
                          <a:solidFill>
                            <a:srgbClr val="565952"/>
                          </a:solidFill>
                          <a:latin typeface="Arial"/>
                        </a:rPr>
                        <a:t>Offer, counteroffer or decline is classified in code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900" b="0">
                          <a:solidFill>
                            <a:srgbClr val="FFFFFF"/>
                          </a:solidFill>
                          <a:latin typeface="Courier New"/>
                        </a:rPr>
                        <a:t>Agent</a:t>
                      </a:r>
                    </a:p>
                  </a:txBody>
                  <a:tcPr marL="73152" marR="91440" marT="45720" marB="45720" anchor="ctr">
                    <a:lnL w="0">
                      <a:noFill/>
                    </a:lnL>
                    <a:lnR w="0">
                      <a:noFill/>
                    </a:lnR>
                    <a:lnT w="0">
                      <a:noFill/>
                    </a:lnT>
                    <a:lnB w="9525" cap="flat" cmpd="sng" algn="ctr">
                      <a:solidFill>
                        <a:srgbClr val="C9CBC4"/>
                      </a:solidFill>
                      <a:prstDash val="solid"/>
                    </a:lnB>
                    <a:solidFill>
                      <a:srgbClr val="1C46C9"/>
                    </a:solidFill>
                  </a:tcPr>
                </a:tc>
              </a:tr>
              <a:tr h="597395">
                <a:tc>
                  <a:txBody>
                    <a:bodyPr wrap="square"/>
                    <a:lstStyle/>
                    <a:p>
                      <a:r>
                        <a:rPr sz="900" b="0">
                          <a:solidFill>
                            <a:srgbClr val="565952"/>
                          </a:solidFill>
                          <a:latin typeface="Courier New"/>
                        </a:rPr>
                        <a:t>6</a:t>
                      </a:r>
                    </a:p>
                  </a:txBody>
                  <a:tcPr marL="0" marR="91440" marT="45720" marB="45720" anchor="t">
                    <a:noFill/>
                    <a:lnL w="0">
                      <a:noFill/>
                    </a:lnL>
                    <a:lnR w="0">
                      <a:noFill/>
                    </a:lnR>
                    <a:lnT w="0">
                      <a:noFill/>
                    </a:lnT>
                    <a:lnB w="0">
                      <a:noFill/>
                    </a:lnB>
                  </a:tcPr>
                </a:tc>
                <a:tc>
                  <a:txBody>
                    <a:bodyPr wrap="square"/>
                    <a:lstStyle/>
                    <a:p>
                      <a:r>
                        <a:rPr sz="1250" b="1">
                          <a:solidFill>
                            <a:srgbClr val="141514"/>
                          </a:solidFill>
                          <a:latin typeface="Arial"/>
                        </a:rPr>
                        <a:t>Human</a:t>
                      </a:r>
                    </a:p>
                  </a:txBody>
                  <a:tcPr marL="0" marR="91440" marT="45720" marB="45720" anchor="t">
                    <a:noFill/>
                    <a:lnL w="0">
                      <a:noFill/>
                    </a:lnL>
                    <a:lnR w="0">
                      <a:noFill/>
                    </a:lnR>
                    <a:lnT w="0">
                      <a:noFill/>
                    </a:lnT>
                    <a:lnB w="0">
                      <a:noFill/>
                    </a:lnB>
                  </a:tcPr>
                </a:tc>
                <a:tc>
                  <a:txBody>
                    <a:bodyPr wrap="square"/>
                    <a:lstStyle/>
                    <a:p>
                      <a:r>
                        <a:rPr sz="1350" b="1">
                          <a:solidFill>
                            <a:srgbClr val="141514"/>
                          </a:solidFill>
                          <a:latin typeface="Arial"/>
                        </a:rPr>
                        <a:t>A person makes the final call</a:t>
                      </a:r>
                    </a:p>
                    <a:p>
                      <a:pPr>
                        <a:spcBef>
                          <a:spcPts val="200"/>
                        </a:spcBef>
                      </a:pPr>
                      <a:r>
                        <a:rPr sz="1050" b="0">
                          <a:solidFill>
                            <a:srgbClr val="565952"/>
                          </a:solidFill>
                          <a:latin typeface="Arial"/>
                        </a:rPr>
                        <a:t>Nothing funds until the loan officer signs. Override is refused and logged.</a:t>
                      </a:r>
                    </a:p>
                  </a:txBody>
                  <a:tcPr marL="0" marR="91440" marT="45720" marB="45720" anchor="t">
                    <a:noFill/>
                    <a:lnL w="0">
                      <a:noFill/>
                    </a:lnL>
                    <a:lnR w="0">
                      <a:noFill/>
                    </a:lnR>
                    <a:lnT w="0">
                      <a:noFill/>
                    </a:lnT>
                    <a:lnB w="0">
                      <a:noFill/>
                    </a:lnB>
                  </a:tcPr>
                </a:tc>
                <a:tc>
                  <a:txBody>
                    <a:bodyPr wrap="square"/>
                    <a:lstStyle/>
                    <a:p>
                      <a:r>
                        <a:rPr sz="900" b="0">
                          <a:solidFill>
                            <a:srgbClr val="141514"/>
                          </a:solidFill>
                          <a:latin typeface="Courier New"/>
                        </a:rPr>
                        <a:t>Human</a:t>
                      </a:r>
                    </a:p>
                  </a:txBody>
                  <a:tcPr marL="73152" marR="91440" marT="45720" marB="45720" anchor="ctr">
                    <a:lnL w="0">
                      <a:noFill/>
                    </a:lnL>
                    <a:lnR w="0">
                      <a:noFill/>
                    </a:lnR>
                    <a:lnT w="0">
                      <a:noFill/>
                    </a:lnT>
                    <a:lnB w="0">
                      <a:noFill/>
                    </a:lnB>
                    <a:solidFill>
                      <a:srgbClr val="FF5A1F"/>
                    </a:solidFill>
                  </a:tcPr>
                </a:tc>
              </a:tr>
            </a:tbl>
          </a:graphicData>
        </a:graphic>
      </p:graphicFrame>
      <p:sp>
        <p:nvSpPr>
          <p:cNvPr id="13" name="TextBox 12"/>
          <p:cNvSpPr txBox="1"/>
          <p:nvPr/>
        </p:nvSpPr>
        <p:spPr>
          <a:xfrm>
            <a:off x="612648" y="5873309"/>
            <a:ext cx="10966399" cy="457200"/>
          </a:xfrm>
          <a:prstGeom prst="rect">
            <a:avLst/>
          </a:prstGeom>
          <a:noFill/>
        </p:spPr>
        <p:txBody>
          <a:bodyPr wrap="square" lIns="0" rIns="0" tIns="0" bIns="0" anchor="t">
            <a:spAutoFit/>
          </a:bodyPr>
          <a:lstStyle/>
          <a:p>
            <a:pPr algn="l">
              <a:lnSpc>
                <a:spcPct val="115000"/>
              </a:lnSpc>
            </a:pPr>
            <a:r>
              <a:rPr sz="1350" b="1">
                <a:solidFill>
                  <a:srgbClr val="141514"/>
                </a:solidFill>
                <a:latin typeface="Arial"/>
              </a:rPr>
              <a:t>Convex runs it all as one workflow.</a:t>
            </a:r>
            <a:r>
              <a:rPr sz="1050" b="0">
                <a:solidFill>
                  <a:srgbClr val="565952"/>
                </a:solidFill>
                <a:latin typeface="Arial"/>
              </a:rPr>
              <a:t>  Every step is an audit row; the phone and the judge board update live.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1: every lender gets the same CRS Credit API sandbox file, and the file an agent sees has no identity in it.</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graphicFrame>
        <p:nvGraphicFramePr>
          <p:cNvPr id="12" name="Table 11"/>
          <p:cNvGraphicFramePr>
            <a:graphicFrameLocks noGrp="1"/>
          </p:cNvGraphicFramePr>
          <p:nvPr/>
        </p:nvGraphicFramePr>
        <p:xfrm>
          <a:off x="612648" y="1633728"/>
          <a:ext cx="6583680" cy="3944110"/>
        </p:xfrm>
        <a:graphic>
          <a:graphicData uri="http://schemas.openxmlformats.org/drawingml/2006/table">
            <a:tbl>
              <a:tblPr firstRow="0" bandRow="0">
                <a:tableStyleId>{2D5ABB26-0587-4C30-8999-92F81FD0307C}</a:tableStyleId>
              </a:tblPr>
              <a:tblGrid>
                <a:gridCol w="1554480"/>
                <a:gridCol w="2926080"/>
                <a:gridCol w="2103120"/>
              </a:tblGrid>
              <a:tr h="448743">
                <a:tc>
                  <a:txBody>
                    <a:bodyPr wrap="square"/>
                    <a:lstStyle/>
                    <a:p>
                      <a:r>
                        <a:rPr sz="950" b="0">
                          <a:solidFill>
                            <a:srgbClr val="565952"/>
                          </a:solidFill>
                          <a:latin typeface="Courier New"/>
                        </a:rPr>
                        <a:t>WHAT WE PULL</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WHAT COMES BACK</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FIELDS THE POLICIES USE</a:t>
                      </a:r>
                    </a:p>
                  </a:txBody>
                  <a:tcPr marL="0" marR="91440" marT="0" marB="45720" anchor="b">
                    <a:noFill/>
                    <a:lnL w="0">
                      <a:noFill/>
                    </a:lnL>
                    <a:lnR w="0">
                      <a:noFill/>
                    </a:lnR>
                    <a:lnT w="0">
                      <a:noFill/>
                    </a:lnT>
                    <a:lnB w="15875" cap="flat" cmpd="sng" algn="ctr">
                      <a:solidFill>
                        <a:srgbClr val="141514"/>
                      </a:solidFill>
                      <a:prstDash val="solid"/>
                    </a:lnB>
                  </a:tcPr>
                </a:tc>
              </a:tr>
              <a:tr h="1040470">
                <a:tc>
                  <a:txBody>
                    <a:bodyPr wrap="square"/>
                    <a:lstStyle/>
                    <a:p>
                      <a:r>
                        <a:rPr sz="1350" b="1">
                          <a:solidFill>
                            <a:srgbClr val="141514"/>
                          </a:solidFill>
                          <a:latin typeface="Arial"/>
                        </a:rPr>
                        <a:t>Three bureaus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50" b="0">
                          <a:solidFill>
                            <a:srgbClr val="565952"/>
                          </a:solidFill>
                          <a:latin typeface="Arial"/>
                        </a:rPr>
                        <a:t>Score, tradelines, inquiries, utilization from TransUnion, Equifax and Experian. A freeze at one bureau is a flag, not a stop.</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credit.fico9 · vantage4 · utilization · inquiries6mo · flags.frozen</a:t>
                      </a:r>
                    </a:p>
                  </a:txBody>
                  <a:tcPr marL="0" marR="91440" marT="45720" marB="45720" anchor="t">
                    <a:noFill/>
                    <a:lnL w="0">
                      <a:noFill/>
                    </a:lnL>
                    <a:lnR w="0">
                      <a:noFill/>
                    </a:lnR>
                    <a:lnT w="0">
                      <a:noFill/>
                    </a:lnT>
                    <a:lnB w="9525" cap="flat" cmpd="sng" algn="ctr">
                      <a:solidFill>
                        <a:srgbClr val="C9CBC4"/>
                      </a:solidFill>
                      <a:prstDash val="solid"/>
                    </a:lnB>
                  </a:tcPr>
                </a:tc>
              </a:tr>
              <a:tr h="818299">
                <a:tc>
                  <a:txBody>
                    <a:bodyPr wrap="square"/>
                    <a:lstStyle/>
                    <a:p>
                      <a:r>
                        <a:rPr sz="1350" b="1">
                          <a:solidFill>
                            <a:srgbClr val="141514"/>
                          </a:solidFill>
                          <a:latin typeface="Arial"/>
                        </a:rPr>
                        <a:t>Identity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50" b="0">
                          <a:solidFill>
                            <a:srgbClr val="565952"/>
                          </a:solidFill>
                          <a:latin typeface="Arial"/>
                        </a:rPr>
                        <a:t>Verified or not; SSN belongs to a deceased person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identity.verified · flags.deceased</a:t>
                      </a:r>
                    </a:p>
                  </a:txBody>
                  <a:tcPr marL="0" marR="91440" marT="45720" marB="45720" anchor="t">
                    <a:noFill/>
                    <a:lnL w="0">
                      <a:noFill/>
                    </a:lnL>
                    <a:lnR w="0">
                      <a:noFill/>
                    </a:lnR>
                    <a:lnT w="0">
                      <a:noFill/>
                    </a:lnT>
                    <a:lnB w="9525" cap="flat" cmpd="sng" algn="ctr">
                      <a:solidFill>
                        <a:srgbClr val="C9CBC4"/>
                      </a:solidFill>
                      <a:prstDash val="solid"/>
                    </a:lnB>
                  </a:tcPr>
                </a:tc>
              </a:tr>
              <a:tr h="818299">
                <a:tc>
                  <a:txBody>
                    <a:bodyPr wrap="square"/>
                    <a:lstStyle/>
                    <a:p>
                      <a:r>
                        <a:rPr sz="1350" b="1">
                          <a:solidFill>
                            <a:srgbClr val="141514"/>
                          </a:solidFill>
                          <a:latin typeface="Arial"/>
                        </a:rPr>
                        <a:t>Fraud screen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50" b="0">
                          <a:solidFill>
                            <a:srgbClr val="565952"/>
                          </a:solidFill>
                          <a:latin typeface="Arial"/>
                        </a:rPr>
                        <a:t>Risk score 0–100 and signals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fraud.score</a:t>
                      </a:r>
                    </a:p>
                  </a:txBody>
                  <a:tcPr marL="0" marR="91440" marT="45720" marB="45720" anchor="t">
                    <a:noFill/>
                    <a:lnL w="0">
                      <a:noFill/>
                    </a:lnL>
                    <a:lnR w="0">
                      <a:noFill/>
                    </a:lnR>
                    <a:lnT w="0">
                      <a:noFill/>
                    </a:lnT>
                    <a:lnB w="9525" cap="flat" cmpd="sng" algn="ctr">
                      <a:solidFill>
                        <a:srgbClr val="C9CBC4"/>
                      </a:solidFill>
                      <a:prstDash val="solid"/>
                    </a:lnB>
                  </a:tcPr>
                </a:tc>
              </a:tr>
              <a:tr h="818299">
                <a:tc>
                  <a:txBody>
                    <a:bodyPr wrap="square"/>
                    <a:lstStyle/>
                    <a:p>
                      <a:r>
                        <a:rPr sz="1350" b="1">
                          <a:solidFill>
                            <a:srgbClr val="141514"/>
                          </a:solidFill>
                          <a:latin typeface="Arial"/>
                        </a:rPr>
                        <a:t>Public records</a:t>
                      </a:r>
                    </a:p>
                  </a:txBody>
                  <a:tcPr marL="0" marR="91440" marT="45720" marB="45720" anchor="t">
                    <a:noFill/>
                    <a:lnL w="0">
                      <a:noFill/>
                    </a:lnL>
                    <a:lnR w="0">
                      <a:noFill/>
                    </a:lnR>
                    <a:lnT w="0">
                      <a:noFill/>
                    </a:lnT>
                    <a:lnB w="0">
                      <a:noFill/>
                    </a:lnB>
                  </a:tcPr>
                </a:tc>
                <a:tc>
                  <a:txBody>
                    <a:bodyPr wrap="square"/>
                    <a:lstStyle/>
                    <a:p>
                      <a:r>
                        <a:rPr sz="1150" b="0">
                          <a:solidFill>
                            <a:srgbClr val="565952"/>
                          </a:solidFill>
                          <a:latin typeface="Arial"/>
                        </a:rPr>
                        <a:t>Bankruptcy, eviction, unsatisfied lien or judgment</a:t>
                      </a:r>
                    </a:p>
                  </a:txBody>
                  <a:tcPr marL="0" marR="91440" marT="45720" marB="45720" anchor="t">
                    <a:noFill/>
                    <a:lnL w="0">
                      <a:noFill/>
                    </a:lnL>
                    <a:lnR w="0">
                      <a:noFill/>
                    </a:lnR>
                    <a:lnT w="0">
                      <a:noFill/>
                    </a:lnT>
                    <a:lnB w="0">
                      <a:noFill/>
                    </a:lnB>
                  </a:tcPr>
                </a:tc>
                <a:tc>
                  <a:txBody>
                    <a:bodyPr wrap="square"/>
                    <a:lstStyle/>
                    <a:p>
                      <a:r>
                        <a:rPr sz="1050" b="0">
                          <a:solidFill>
                            <a:srgbClr val="565952"/>
                          </a:solidFill>
                          <a:latin typeface="Courier New"/>
                        </a:rPr>
                        <a:t>flags.bankruptcy · eviction · lienOrJudgment</a:t>
                      </a:r>
                    </a:p>
                  </a:txBody>
                  <a:tcPr marL="0" marR="91440" marT="45720" marB="45720" anchor="t">
                    <a:noFill/>
                    <a:lnL w="0">
                      <a:noFill/>
                    </a:lnL>
                    <a:lnR w="0">
                      <a:noFill/>
                    </a:lnR>
                    <a:lnT w="0">
                      <a:noFill/>
                    </a:lnT>
                    <a:lnB w="0">
                      <a:noFill/>
                    </a:lnB>
                  </a:tcPr>
                </a:tc>
              </a:tr>
            </a:tbl>
          </a:graphicData>
        </a:graphic>
      </p:graphicFrame>
      <p:sp>
        <p:nvSpPr>
          <p:cNvPr id="13" name="Rectangle 12"/>
          <p:cNvSpPr/>
          <p:nvPr/>
        </p:nvSpPr>
        <p:spPr>
          <a:xfrm>
            <a:off x="7562088" y="1633728"/>
            <a:ext cx="4016959" cy="188375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44967" y="1775008"/>
            <a:ext cx="401695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REACHES THE AI</a:t>
            </a:r>
          </a:p>
        </p:txBody>
      </p:sp>
      <p:sp>
        <p:nvSpPr>
          <p:cNvPr id="15" name="TextBox 14"/>
          <p:cNvSpPr txBox="1"/>
          <p:nvPr/>
        </p:nvSpPr>
        <p:spPr>
          <a:xfrm>
            <a:off x="7744967" y="210466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Scores, flags and the loan request</a:t>
            </a:r>
          </a:p>
        </p:txBody>
      </p:sp>
      <p:sp>
        <p:nvSpPr>
          <p:cNvPr id="16" name="TextBox 15"/>
          <p:cNvSpPr txBox="1"/>
          <p:nvPr/>
        </p:nvSpPr>
        <p:spPr>
          <a:xfrm>
            <a:off x="7744967" y="236984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Utilization, inquiries, identity and fraud results, purpose, amount, income</a:t>
            </a:r>
          </a:p>
        </p:txBody>
      </p:sp>
      <p:sp>
        <p:nvSpPr>
          <p:cNvPr id="17" name="Rectangle 16"/>
          <p:cNvSpPr/>
          <p:nvPr/>
        </p:nvSpPr>
        <p:spPr>
          <a:xfrm>
            <a:off x="7562088" y="3694085"/>
            <a:ext cx="4016959" cy="188375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44967" y="3835366"/>
            <a:ext cx="401695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NEVER REACHES A MODEL</a:t>
            </a:r>
          </a:p>
        </p:txBody>
      </p:sp>
      <p:sp>
        <p:nvSpPr>
          <p:cNvPr id="19" name="TextBox 18"/>
          <p:cNvSpPr txBox="1"/>
          <p:nvPr/>
        </p:nvSpPr>
        <p:spPr>
          <a:xfrm>
            <a:off x="7744967" y="4165022"/>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Name, address, ZIP, SSN</a:t>
            </a:r>
          </a:p>
        </p:txBody>
      </p:sp>
      <p:sp>
        <p:nvSpPr>
          <p:cNvPr id="20" name="TextBox 19"/>
          <p:cNvSpPr txBox="1"/>
          <p:nvPr/>
        </p:nvSpPr>
        <p:spPr>
          <a:xfrm>
            <a:off x="7744967" y="4430198"/>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Also date of birth, phone, email, raw bureau data, criminal records</a:t>
            </a:r>
          </a:p>
        </p:txBody>
      </p:sp>
      <p:sp>
        <p:nvSpPr>
          <p:cNvPr id="21"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Same file for every lender, no identity in it. The demo replays real CRS sandbox pulls; live pulls are one setting away.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2: four conditions end an application in code before any model sees the file, and an override attempt is refused and logged.</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graphicFrame>
        <p:nvGraphicFramePr>
          <p:cNvPr id="12" name="Table 11"/>
          <p:cNvGraphicFramePr>
            <a:graphicFrameLocks noGrp="1"/>
          </p:cNvGraphicFramePr>
          <p:nvPr/>
        </p:nvGraphicFramePr>
        <p:xfrm>
          <a:off x="612648" y="1633728"/>
          <a:ext cx="6309360" cy="3907702"/>
        </p:xfrm>
        <a:graphic>
          <a:graphicData uri="http://schemas.openxmlformats.org/drawingml/2006/table">
            <a:tbl>
              <a:tblPr firstRow="0" bandRow="0">
                <a:tableStyleId>{2D5ABB26-0587-4C30-8999-92F81FD0307C}</a:tableStyleId>
              </a:tblPr>
              <a:tblGrid>
                <a:gridCol w="4206240"/>
                <a:gridCol w="2103120"/>
              </a:tblGrid>
              <a:tr h="412614">
                <a:tc>
                  <a:txBody>
                    <a:bodyPr wrap="square"/>
                    <a:lstStyle/>
                    <a:p>
                      <a:r>
                        <a:rPr sz="1000" b="0">
                          <a:solidFill>
                            <a:srgbClr val="565952"/>
                          </a:solidFill>
                          <a:latin typeface="Courier New"/>
                        </a:rPr>
                        <a:t>STOPS WHEN</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1000" b="0">
                          <a:solidFill>
                            <a:srgbClr val="565952"/>
                          </a:solidFill>
                          <a:latin typeface="Courier New"/>
                        </a:rPr>
                        <a:t>RULE IN CODE</a:t>
                      </a:r>
                    </a:p>
                  </a:txBody>
                  <a:tcPr marL="0" marR="91440" marT="0" marB="45720" anchor="b">
                    <a:noFill/>
                    <a:lnL w="0">
                      <a:noFill/>
                    </a:lnL>
                    <a:lnR w="0">
                      <a:noFill/>
                    </a:lnR>
                    <a:lnT w="0">
                      <a:noFill/>
                    </a:lnT>
                    <a:lnB w="15875" cap="flat" cmpd="sng" algn="ctr">
                      <a:solidFill>
                        <a:srgbClr val="141514"/>
                      </a:solidFill>
                      <a:prstDash val="solid"/>
                    </a:lnB>
                  </a:tcPr>
                </a:tc>
              </a:tr>
              <a:tr h="873772">
                <a:tc>
                  <a:txBody>
                    <a:bodyPr wrap="square"/>
                    <a:lstStyle/>
                    <a:p>
                      <a:r>
                        <a:rPr sz="1500" b="1">
                          <a:solidFill>
                            <a:srgbClr val="141514"/>
                          </a:solidFill>
                          <a:latin typeface="Arial"/>
                        </a:rPr>
                        <a:t>The bureau says the applicant died</a:t>
                      </a:r>
                    </a:p>
                    <a:p>
                      <a:pPr>
                        <a:spcBef>
                          <a:spcPts val="200"/>
                        </a:spcBef>
                      </a:pPr>
                      <a:r>
                        <a:rPr sz="1150" b="0">
                          <a:solidFill>
                            <a:srgbClr val="565952"/>
                          </a:solidFill>
                          <a:latin typeface="Arial"/>
                        </a:rPr>
                        <a:t>A model can be argued with. A rule can't.</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flags.deceased</a:t>
                      </a:r>
                    </a:p>
                  </a:txBody>
                  <a:tcPr marL="0" marR="91440" marT="45720" marB="45720" anchor="t">
                    <a:noFill/>
                    <a:lnL w="0">
                      <a:noFill/>
                    </a:lnL>
                    <a:lnR w="0">
                      <a:noFill/>
                    </a:lnR>
                    <a:lnT w="0">
                      <a:noFill/>
                    </a:lnT>
                    <a:lnB w="9525" cap="flat" cmpd="sng" algn="ctr">
                      <a:solidFill>
                        <a:srgbClr val="C9CBC4"/>
                      </a:solidFill>
                      <a:prstDash val="solid"/>
                    </a:lnB>
                  </a:tcPr>
                </a:tc>
              </a:tr>
              <a:tr h="873772">
                <a:tc>
                  <a:txBody>
                    <a:bodyPr wrap="square"/>
                    <a:lstStyle/>
                    <a:p>
                      <a:r>
                        <a:rPr sz="1500" b="1">
                          <a:solidFill>
                            <a:srgbClr val="141514"/>
                          </a:solidFill>
                          <a:latin typeface="Arial"/>
                        </a:rPr>
                        <a:t>Every bureau file is frozen</a:t>
                      </a:r>
                    </a:p>
                    <a:p>
                      <a:pPr>
                        <a:spcBef>
                          <a:spcPts val="200"/>
                        </a:spcBef>
                      </a:pPr>
                      <a:r>
                        <a:rPr sz="1150" b="0">
                          <a:solidFill>
                            <a:srgbClr val="565952"/>
                          </a:solidFill>
                          <a:latin typeface="Arial"/>
                        </a:rPr>
                        <a:t>Nothing to underwrite until the freeze lifts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flags.frozen + no score</a:t>
                      </a:r>
                    </a:p>
                  </a:txBody>
                  <a:tcPr marL="0" marR="91440" marT="45720" marB="45720" anchor="t">
                    <a:noFill/>
                    <a:lnL w="0">
                      <a:noFill/>
                    </a:lnL>
                    <a:lnR w="0">
                      <a:noFill/>
                    </a:lnR>
                    <a:lnT w="0">
                      <a:noFill/>
                    </a:lnT>
                    <a:lnB w="9525" cap="flat" cmpd="sng" algn="ctr">
                      <a:solidFill>
                        <a:srgbClr val="C9CBC4"/>
                      </a:solidFill>
                      <a:prstDash val="solid"/>
                    </a:lnB>
                  </a:tcPr>
                </a:tc>
              </a:tr>
              <a:tr h="873772">
                <a:tc>
                  <a:txBody>
                    <a:bodyPr wrap="square"/>
                    <a:lstStyle/>
                    <a:p>
                      <a:r>
                        <a:rPr sz="1500" b="1">
                          <a:solidFill>
                            <a:srgbClr val="141514"/>
                          </a:solidFill>
                          <a:latin typeface="Arial"/>
                        </a:rPr>
                        <a:t>Identity doesn't match the file</a:t>
                      </a:r>
                    </a:p>
                    <a:p>
                      <a:pPr>
                        <a:spcBef>
                          <a:spcPts val="200"/>
                        </a:spcBef>
                      </a:pPr>
                      <a:r>
                        <a:rPr sz="1150" b="0">
                          <a:solidFill>
                            <a:srgbClr val="565952"/>
                          </a:solidFill>
                          <a:latin typeface="Arial"/>
                        </a:rPr>
                        <a:t>Possible synthetic identity; zero lenders asked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Courier New"/>
                        </a:rPr>
                        <a:t>identity.verified = false</a:t>
                      </a:r>
                    </a:p>
                  </a:txBody>
                  <a:tcPr marL="0" marR="91440" marT="45720" marB="45720" anchor="t">
                    <a:noFill/>
                    <a:lnL w="0">
                      <a:noFill/>
                    </a:lnL>
                    <a:lnR w="0">
                      <a:noFill/>
                    </a:lnR>
                    <a:lnT w="0">
                      <a:noFill/>
                    </a:lnT>
                    <a:lnB w="9525" cap="flat" cmpd="sng" algn="ctr">
                      <a:solidFill>
                        <a:srgbClr val="C9CBC4"/>
                      </a:solidFill>
                      <a:prstDash val="solid"/>
                    </a:lnB>
                  </a:tcPr>
                </a:tc>
              </a:tr>
              <a:tr h="873772">
                <a:tc>
                  <a:txBody>
                    <a:bodyPr wrap="square"/>
                    <a:lstStyle/>
                    <a:p>
                      <a:r>
                        <a:rPr sz="1500" b="1">
                          <a:solidFill>
                            <a:srgbClr val="141514"/>
                          </a:solidFill>
                          <a:latin typeface="Arial"/>
                        </a:rPr>
                        <a:t>Fraud score is 80 or higher</a:t>
                      </a:r>
                    </a:p>
                    <a:p>
                      <a:pPr>
                        <a:spcBef>
                          <a:spcPts val="200"/>
                        </a:spcBef>
                      </a:pPr>
                      <a:r>
                        <a:rPr sz="1150" b="0">
                          <a:solidFill>
                            <a:srgbClr val="565952"/>
                          </a:solidFill>
                          <a:latin typeface="Arial"/>
                        </a:rPr>
                        <a:t>Lenders also set lower limits in their own policy</a:t>
                      </a:r>
                    </a:p>
                  </a:txBody>
                  <a:tcPr marL="0" marR="91440" marT="45720" marB="45720" anchor="t">
                    <a:noFill/>
                    <a:lnL w="0">
                      <a:noFill/>
                    </a:lnL>
                    <a:lnR w="0">
                      <a:noFill/>
                    </a:lnR>
                    <a:lnT w="0">
                      <a:noFill/>
                    </a:lnT>
                    <a:lnB w="0">
                      <a:noFill/>
                    </a:lnB>
                  </a:tcPr>
                </a:tc>
                <a:tc>
                  <a:txBody>
                    <a:bodyPr wrap="square"/>
                    <a:lstStyle/>
                    <a:p>
                      <a:r>
                        <a:rPr sz="1050" b="0">
                          <a:solidFill>
                            <a:srgbClr val="565952"/>
                          </a:solidFill>
                          <a:latin typeface="Courier New"/>
                        </a:rPr>
                        <a:t>fraud.score ≥ 80</a:t>
                      </a:r>
                    </a:p>
                  </a:txBody>
                  <a:tcPr marL="0" marR="91440" marT="45720" marB="45720" anchor="t">
                    <a:noFill/>
                    <a:lnL w="0">
                      <a:noFill/>
                    </a:lnL>
                    <a:lnR w="0">
                      <a:noFill/>
                    </a:lnR>
                    <a:lnT w="0">
                      <a:noFill/>
                    </a:lnT>
                    <a:lnB w="0">
                      <a:noFill/>
                    </a:lnB>
                  </a:tcPr>
                </a:tc>
              </a:tr>
            </a:tbl>
          </a:graphicData>
        </a:graphic>
      </p:graphicFrame>
      <p:sp>
        <p:nvSpPr>
          <p:cNvPr id="13" name="Rectangle 12"/>
          <p:cNvSpPr/>
          <p:nvPr/>
        </p:nvSpPr>
        <p:spPr>
          <a:xfrm>
            <a:off x="7287768" y="1633728"/>
            <a:ext cx="4291279" cy="3944112"/>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470648" y="1876442"/>
            <a:ext cx="3925519" cy="752415"/>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07808" y="1900714"/>
            <a:ext cx="3651199" cy="530352"/>
          </a:xfrm>
          <a:prstGeom prst="rect">
            <a:avLst/>
          </a:prstGeom>
          <a:noFill/>
        </p:spPr>
        <p:txBody>
          <a:bodyPr wrap="square" lIns="0" rIns="0" tIns="0" bIns="0" anchor="ctr">
            <a:spAutoFit/>
          </a:bodyPr>
          <a:lstStyle/>
          <a:p>
            <a:pPr algn="l">
              <a:lnSpc>
                <a:spcPct val="115000"/>
              </a:lnSpc>
            </a:pPr>
            <a:r>
              <a:rPr sz="1400" b="1">
                <a:solidFill>
                  <a:srgbClr val="141514"/>
                </a:solidFill>
                <a:latin typeface="Arial"/>
              </a:rPr>
              <a:t>Hard stop: the bureau says this person died. They just applied.</a:t>
            </a:r>
          </a:p>
        </p:txBody>
      </p:sp>
      <p:sp>
        <p:nvSpPr>
          <p:cNvPr id="16" name="Rectangle 15"/>
          <p:cNvSpPr/>
          <p:nvPr/>
        </p:nvSpPr>
        <p:spPr>
          <a:xfrm>
            <a:off x="7470648" y="2847300"/>
            <a:ext cx="1894179" cy="1152894"/>
          </a:xfrm>
          <a:prstGeom prst="rect">
            <a:avLst/>
          </a:prstGeom>
          <a:solidFill>
            <a:srgbClr val="FFFFFF"/>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07808" y="2871572"/>
            <a:ext cx="1894179" cy="548640"/>
          </a:xfrm>
          <a:prstGeom prst="rect">
            <a:avLst/>
          </a:prstGeom>
          <a:noFill/>
        </p:spPr>
        <p:txBody>
          <a:bodyPr wrap="square" lIns="0" rIns="0" tIns="0" bIns="0" anchor="t">
            <a:spAutoFit/>
          </a:bodyPr>
          <a:lstStyle/>
          <a:p>
            <a:pPr algn="l">
              <a:lnSpc>
                <a:spcPct val="115000"/>
              </a:lnSpc>
            </a:pPr>
            <a:r>
              <a:rPr sz="3500" b="1">
                <a:solidFill>
                  <a:srgbClr val="141514"/>
                </a:solidFill>
                <a:latin typeface="Courier New"/>
              </a:rPr>
              <a:t>0</a:t>
            </a:r>
          </a:p>
        </p:txBody>
      </p:sp>
      <p:sp>
        <p:nvSpPr>
          <p:cNvPr id="18" name="TextBox 17"/>
          <p:cNvSpPr txBox="1"/>
          <p:nvPr/>
        </p:nvSpPr>
        <p:spPr>
          <a:xfrm>
            <a:off x="7607808" y="3420212"/>
            <a:ext cx="1894179"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LENDERS CONTACTED</a:t>
            </a:r>
          </a:p>
        </p:txBody>
      </p:sp>
      <p:sp>
        <p:nvSpPr>
          <p:cNvPr id="19" name="Rectangle 18"/>
          <p:cNvSpPr/>
          <p:nvPr/>
        </p:nvSpPr>
        <p:spPr>
          <a:xfrm>
            <a:off x="9501987" y="2847300"/>
            <a:ext cx="1894179" cy="1152894"/>
          </a:xfrm>
          <a:prstGeom prst="rect">
            <a:avLst/>
          </a:prstGeom>
          <a:solidFill>
            <a:srgbClr val="FFFFFF"/>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39147" y="2871572"/>
            <a:ext cx="1894179" cy="548640"/>
          </a:xfrm>
          <a:prstGeom prst="rect">
            <a:avLst/>
          </a:prstGeom>
          <a:noFill/>
        </p:spPr>
        <p:txBody>
          <a:bodyPr wrap="square" lIns="0" rIns="0" tIns="0" bIns="0" anchor="t">
            <a:spAutoFit/>
          </a:bodyPr>
          <a:lstStyle/>
          <a:p>
            <a:pPr algn="l">
              <a:lnSpc>
                <a:spcPct val="115000"/>
              </a:lnSpc>
            </a:pPr>
            <a:r>
              <a:rPr sz="3500" b="1">
                <a:solidFill>
                  <a:srgbClr val="141514"/>
                </a:solidFill>
                <a:latin typeface="Courier New"/>
              </a:rPr>
              <a:t>0</a:t>
            </a:r>
          </a:p>
        </p:txBody>
      </p:sp>
      <p:sp>
        <p:nvSpPr>
          <p:cNvPr id="21" name="TextBox 20"/>
          <p:cNvSpPr txBox="1"/>
          <p:nvPr/>
        </p:nvSpPr>
        <p:spPr>
          <a:xfrm>
            <a:off x="9639147" y="3420212"/>
            <a:ext cx="1894179"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OFFERS</a:t>
            </a:r>
          </a:p>
        </p:txBody>
      </p:sp>
      <p:sp>
        <p:nvSpPr>
          <p:cNvPr id="22" name="TextBox 21"/>
          <p:cNvSpPr txBox="1"/>
          <p:nvPr/>
        </p:nvSpPr>
        <p:spPr>
          <a:xfrm>
            <a:off x="7470648" y="4182231"/>
            <a:ext cx="3925519"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Override: refused and logged</a:t>
            </a:r>
          </a:p>
        </p:txBody>
      </p:sp>
      <p:sp>
        <p:nvSpPr>
          <p:cNvPr id="23" name="TextBox 22"/>
          <p:cNvSpPr txBox="1"/>
          <p:nvPr/>
        </p:nvSpPr>
        <p:spPr>
          <a:xfrm>
            <a:off x="7470648" y="4483983"/>
            <a:ext cx="3925519" cy="548640"/>
          </a:xfrm>
          <a:prstGeom prst="rect">
            <a:avLst/>
          </a:prstGeom>
          <a:noFill/>
        </p:spPr>
        <p:txBody>
          <a:bodyPr wrap="square" lIns="0" rIns="0" tIns="0" bIns="0" anchor="t">
            <a:spAutoFit/>
          </a:bodyPr>
          <a:lstStyle/>
          <a:p>
            <a:pPr algn="l">
              <a:lnSpc>
                <a:spcPct val="115000"/>
              </a:lnSpc>
            </a:pPr>
            <a:r>
              <a:rPr sz="1150" b="0">
                <a:solidFill>
                  <a:srgbClr val="565952"/>
                </a:solidFill>
                <a:latin typeface="Arial"/>
              </a:rPr>
              <a:t>The judge taps Override; the desk records who, when and why, and sends the notice instead.</a:t>
            </a:r>
          </a:p>
        </p:txBody>
      </p:sp>
      <p:sp>
        <p:nvSpPr>
          <p:cNvPr id="24"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The riskiest decisions are the ones the AI never gets to make.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3: five lender agents apply five written policies to the same file in parallel, so one applicant gets five independent answers.</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graphicFrame>
        <p:nvGraphicFramePr>
          <p:cNvPr id="12" name="Table 11"/>
          <p:cNvGraphicFramePr>
            <a:graphicFrameLocks noGrp="1"/>
          </p:cNvGraphicFramePr>
          <p:nvPr/>
        </p:nvGraphicFramePr>
        <p:xfrm>
          <a:off x="612648" y="1633728"/>
          <a:ext cx="10972800" cy="3111464"/>
        </p:xfrm>
        <a:graphic>
          <a:graphicData uri="http://schemas.openxmlformats.org/drawingml/2006/table">
            <a:tbl>
              <a:tblPr firstRow="0" bandRow="0">
                <a:tableStyleId>{2D5ABB26-0587-4C30-8999-92F81FD0307C}</a:tableStyleId>
              </a:tblPr>
              <a:tblGrid>
                <a:gridCol w="2743200"/>
                <a:gridCol w="3291840"/>
                <a:gridCol w="3383280"/>
                <a:gridCol w="1554480"/>
              </a:tblGrid>
              <a:tr h="372499">
                <a:tc>
                  <a:txBody>
                    <a:bodyPr wrap="square"/>
                    <a:lstStyle/>
                    <a:p>
                      <a:r>
                        <a:rPr sz="950" b="0">
                          <a:solidFill>
                            <a:srgbClr val="565952"/>
                          </a:solidFill>
                          <a:latin typeface="Courier New"/>
                        </a:rPr>
                        <a:t>LENDER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WHO THEY LEND TO</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MIN SCORE · MAX UTIL · MAX LOAN · APR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P18, SCORE 650</a:t>
                      </a:r>
                    </a:p>
                  </a:txBody>
                  <a:tcPr marL="0" marR="91440" marT="0" marB="45720" anchor="b">
                    <a:noFill/>
                    <a:lnL w="0">
                      <a:noFill/>
                    </a:lnL>
                    <a:lnR w="0">
                      <a:noFill/>
                    </a:lnR>
                    <a:lnT w="0">
                      <a:noFill/>
                    </a:lnT>
                    <a:lnB w="15875" cap="flat" cmpd="sng" algn="ctr">
                      <a:solidFill>
                        <a:srgbClr val="141514"/>
                      </a:solidFill>
                      <a:prstDash val="solid"/>
                    </a:lnB>
                  </a:tcPr>
                </a:tc>
              </a:tr>
              <a:tr h="547793">
                <a:tc>
                  <a:txBody>
                    <a:bodyPr wrap="square"/>
                    <a:lstStyle/>
                    <a:p>
                      <a:r>
                        <a:rPr sz="1300" b="1">
                          <a:solidFill>
                            <a:srgbClr val="141514"/>
                          </a:solidFill>
                          <a:latin typeface="Arial"/>
                        </a:rPr>
                        <a:t>Meridian Bank Prime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The strongest files only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720 · 30% · $100k · 6.49–8.49%</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Cascade Regional Bank</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Clean, established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680 · 45% · $50k · 7.25–11.25%</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Pacific Ridge Credit Union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Conservative members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660 · 50% · $35k · 7.90–12.90%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Northstar Lending</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41514"/>
                          </a:solidFill>
                          <a:latin typeface="Arial"/>
                        </a:rPr>
                        <a:t>Near-prime and thin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600 · 80% · $25k · 10.90–29.90%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Approve 21.90%</a:t>
                      </a:r>
                    </a:p>
                  </a:txBody>
                  <a:tcPr marL="0" marR="91440" marT="45720" marB="45720" anchor="t">
                    <a:noFill/>
                    <a:lnL w="0">
                      <a:noFill/>
                    </a:lnL>
                    <a:lnR w="0">
                      <a:noFill/>
                    </a:lnR>
                    <a:lnT w="0">
                      <a:noFill/>
                    </a:lnT>
                    <a:lnB w="9525" cap="flat" cmpd="sng" algn="ctr">
                      <a:solidFill>
                        <a:srgbClr val="C9CBC4"/>
                      </a:solidFill>
                      <a:prstDash val="solid"/>
                    </a:lnB>
                  </a:tcPr>
                </a:tc>
              </a:tr>
              <a:tr h="547793">
                <a:tc>
                  <a:txBody>
                    <a:bodyPr wrap="square"/>
                    <a:lstStyle/>
                    <a:p>
                      <a:r>
                        <a:rPr sz="1300" b="1">
                          <a:solidFill>
                            <a:srgbClr val="141514"/>
                          </a:solidFill>
                          <a:latin typeface="Arial"/>
                        </a:rPr>
                        <a:t>Harbor Second Chance</a:t>
                      </a:r>
                    </a:p>
                  </a:txBody>
                  <a:tcPr marL="0" marR="91440" marT="45720" marB="45720" anchor="t">
                    <a:noFill/>
                    <a:lnL w="0">
                      <a:noFill/>
                    </a:lnL>
                    <a:lnR w="0">
                      <a:noFill/>
                    </a:lnR>
                    <a:lnT w="0">
                      <a:noFill/>
                    </a:lnT>
                    <a:lnB w="0">
                      <a:noFill/>
                    </a:lnB>
                  </a:tcPr>
                </a:tc>
                <a:tc>
                  <a:txBody>
                    <a:bodyPr wrap="square"/>
                    <a:lstStyle/>
                    <a:p>
                      <a:r>
                        <a:rPr sz="1450" b="1">
                          <a:solidFill>
                            <a:srgbClr val="141514"/>
                          </a:solidFill>
                          <a:latin typeface="Arial"/>
                        </a:rPr>
                        <a:t>People rebuilding credit</a:t>
                      </a:r>
                    </a:p>
                  </a:txBody>
                  <a:tcPr marL="0" marR="91440" marT="45720" marB="45720" anchor="t">
                    <a:noFill/>
                    <a:lnL w="0">
                      <a:noFill/>
                    </a:lnL>
                    <a:lnR w="0">
                      <a:noFill/>
                    </a:lnR>
                    <a:lnT w="0">
                      <a:noFill/>
                    </a:lnT>
                    <a:lnB w="0">
                      <a:noFill/>
                    </a:lnB>
                  </a:tcPr>
                </a:tc>
                <a:tc>
                  <a:txBody>
                    <a:bodyPr wrap="square"/>
                    <a:lstStyle/>
                    <a:p>
                      <a:r>
                        <a:rPr sz="1000" b="0">
                          <a:solidFill>
                            <a:srgbClr val="565952"/>
                          </a:solidFill>
                          <a:latin typeface="Courier New"/>
                        </a:rPr>
                        <a:t>560 · 90% · $20k · 23.90–35.90%</a:t>
                      </a:r>
                    </a:p>
                  </a:txBody>
                  <a:tcPr marL="0" marR="91440" marT="45720" marB="45720" anchor="t">
                    <a:noFill/>
                    <a:lnL w="0">
                      <a:noFill/>
                    </a:lnL>
                    <a:lnR w="0">
                      <a:noFill/>
                    </a:lnR>
                    <a:lnT w="0">
                      <a:noFill/>
                    </a:lnT>
                    <a:lnB w="0">
                      <a:noFill/>
                    </a:lnB>
                  </a:tcPr>
                </a:tc>
                <a:tc>
                  <a:txBody>
                    <a:bodyPr wrap="square"/>
                    <a:lstStyle/>
                    <a:p>
                      <a:r>
                        <a:rPr sz="1300" b="1">
                          <a:solidFill>
                            <a:srgbClr val="1C46C9"/>
                          </a:solidFill>
                          <a:latin typeface="Arial"/>
                        </a:rPr>
                        <a:t>Approve 27.90%</a:t>
                      </a:r>
                    </a:p>
                  </a:txBody>
                  <a:tcPr marL="0" marR="91440" marT="45720" marB="45720" anchor="t">
                    <a:noFill/>
                    <a:lnL w="0">
                      <a:noFill/>
                    </a:lnL>
                    <a:lnR w="0">
                      <a:noFill/>
                    </a:lnR>
                    <a:lnT w="0">
                      <a:noFill/>
                    </a:lnT>
                    <a:lnB w="0">
                      <a:noFill/>
                    </a:lnB>
                  </a:tcPr>
                </a:tc>
              </a:tr>
            </a:tbl>
          </a:graphicData>
        </a:graphic>
      </p:graphicFrame>
      <p:sp>
        <p:nvSpPr>
          <p:cNvPr id="13" name="TextBox 12"/>
          <p:cNvSpPr txBox="1"/>
          <p:nvPr/>
        </p:nvSpPr>
        <p:spPr>
          <a:xfrm>
            <a:off x="612648" y="4975267"/>
            <a:ext cx="10966399" cy="502920"/>
          </a:xfrm>
          <a:prstGeom prst="rect">
            <a:avLst/>
          </a:prstGeom>
          <a:noFill/>
        </p:spPr>
        <p:txBody>
          <a:bodyPr wrap="square" lIns="0" rIns="0" tIns="0" bIns="0" anchor="t">
            <a:spAutoFit/>
          </a:bodyPr>
          <a:lstStyle/>
          <a:p>
            <a:pPr algn="l">
              <a:lnSpc>
                <a:spcPct val="120000"/>
              </a:lnSpc>
            </a:pPr>
            <a:r>
              <a:rPr sz="1450" b="1">
                <a:solidFill>
                  <a:srgbClr val="141514"/>
                </a:solidFill>
                <a:latin typeface="Arial"/>
              </a:rPr>
              <a:t>Same applicant, five answers: three declines and two offers.</a:t>
            </a:r>
          </a:p>
          <a:p>
            <a:pPr algn="l">
              <a:lnSpc>
                <a:spcPct val="120000"/>
              </a:lnSpc>
            </a:pPr>
            <a:r>
              <a:rPr sz="1100" b="0">
                <a:solidFill>
                  <a:srgbClr val="565952"/>
                </a:solidFill>
                <a:latin typeface="Arial"/>
              </a:rPr>
              <a:t>Prices come from each policy's grid by score band, and the borrower picks the cheapest yes.</a:t>
            </a:r>
          </a:p>
        </p:txBody>
      </p:sp>
      <p:sp>
        <p:nvSpPr>
          <p:cNvPr id="14"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The AI can't set prices. It decides yes, no or counteroffer, and must name the field behind each reason.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4: every denial reason is tested by changing only that field and re-running the lender; reasons that do not flip the decision are withheld.</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sp>
        <p:nvSpPr>
          <p:cNvPr id="12" name="TextBox 11"/>
          <p:cNvSpPr txBox="1"/>
          <p:nvPr/>
        </p:nvSpPr>
        <p:spPr>
          <a:xfrm>
            <a:off x="612648" y="1633728"/>
            <a:ext cx="73152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EXAMPLE · MERIDIAN BANK PRIME DECLINES PERSONA P17, $22,000 FOR SOLAR PANELS</a:t>
            </a:r>
          </a:p>
        </p:txBody>
      </p:sp>
      <p:graphicFrame>
        <p:nvGraphicFramePr>
          <p:cNvPr id="13" name="Table 12"/>
          <p:cNvGraphicFramePr>
            <a:graphicFrameLocks noGrp="1"/>
          </p:cNvGraphicFramePr>
          <p:nvPr/>
        </p:nvGraphicFramePr>
        <p:xfrm>
          <a:off x="612648" y="2143267"/>
          <a:ext cx="7132320" cy="2312269"/>
        </p:xfrm>
        <a:graphic>
          <a:graphicData uri="http://schemas.openxmlformats.org/drawingml/2006/table">
            <a:tbl>
              <a:tblPr firstRow="0" bandRow="0">
                <a:tableStyleId>{2D5ABB26-0587-4C30-8999-92F81FD0307C}</a:tableStyleId>
              </a:tblPr>
              <a:tblGrid>
                <a:gridCol w="2560320"/>
                <a:gridCol w="1737360"/>
                <a:gridCol w="1737360"/>
                <a:gridCol w="1097280"/>
              </a:tblGrid>
              <a:tr h="613805">
                <a:tc>
                  <a:txBody>
                    <a:bodyPr wrap="square"/>
                    <a:lstStyle/>
                    <a:p>
                      <a:r>
                        <a:rPr sz="950" b="0">
                          <a:solidFill>
                            <a:srgbClr val="565952"/>
                          </a:solidFill>
                          <a:latin typeface="Courier New"/>
                        </a:rPr>
                        <a:t>REASON THE AI GAVE</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CHANGE ONLY THAT FIELD</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RE-RUN THE LENDER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IN THE LETTER?</a:t>
                      </a:r>
                    </a:p>
                  </a:txBody>
                  <a:tcPr marL="0" marR="91440" marT="0" marB="45720" anchor="b">
                    <a:noFill/>
                    <a:lnL w="0">
                      <a:noFill/>
                    </a:lnL>
                    <a:lnR w="0">
                      <a:noFill/>
                    </a:lnR>
                    <a:lnT w="0">
                      <a:noFill/>
                    </a:lnT>
                    <a:lnB w="15875" cap="flat" cmpd="sng" algn="ctr">
                      <a:solidFill>
                        <a:srgbClr val="141514"/>
                      </a:solidFill>
                      <a:prstDash val="solid"/>
                    </a:lnB>
                  </a:tcPr>
                </a:tc>
              </a:tr>
              <a:tr h="849232">
                <a:tc>
                  <a:txBody>
                    <a:bodyPr wrap="square"/>
                    <a:lstStyle/>
                    <a:p>
                      <a:r>
                        <a:rPr sz="1300" b="1">
                          <a:solidFill>
                            <a:srgbClr val="141514"/>
                          </a:solidFill>
                          <a:latin typeface="Arial"/>
                        </a:rPr>
                        <a:t>3 hard inquiries in six months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00" b="0">
                          <a:solidFill>
                            <a:srgbClr val="565952"/>
                          </a:solidFill>
                          <a:latin typeface="Courier New"/>
                        </a:rPr>
                        <a:t>inquiries 3 → 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100" b="0">
                          <a:solidFill>
                            <a:srgbClr val="565952"/>
                          </a:solidFill>
                          <a:latin typeface="Arial"/>
                        </a:rPr>
                        <a:t>Decision flips to approve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1">
                          <a:solidFill>
                            <a:srgbClr val="1C46C9"/>
                          </a:solidFill>
                          <a:latin typeface="Arial"/>
                        </a:rPr>
                        <a:t>Kept</a:t>
                      </a:r>
                    </a:p>
                  </a:txBody>
                  <a:tcPr marL="0" marR="91440" marT="45720" marB="45720" anchor="t">
                    <a:noFill/>
                    <a:lnL w="0">
                      <a:noFill/>
                    </a:lnL>
                    <a:lnR w="0">
                      <a:noFill/>
                    </a:lnR>
                    <a:lnT w="0">
                      <a:noFill/>
                    </a:lnT>
                    <a:lnB w="9525" cap="flat" cmpd="sng" algn="ctr">
                      <a:solidFill>
                        <a:srgbClr val="C9CBC4"/>
                      </a:solidFill>
                      <a:prstDash val="solid"/>
                    </a:lnB>
                  </a:tcPr>
                </a:tc>
              </a:tr>
              <a:tr h="849232">
                <a:tc>
                  <a:txBody>
                    <a:bodyPr wrap="square"/>
                    <a:lstStyle/>
                    <a:p>
                      <a:r>
                        <a:rPr sz="1300" b="1">
                          <a:solidFill>
                            <a:srgbClr val="141514"/>
                          </a:solidFill>
                          <a:latin typeface="Arial"/>
                        </a:rPr>
                        <a:t>TransUnion score 760</a:t>
                      </a:r>
                    </a:p>
                  </a:txBody>
                  <a:tcPr marL="0" marR="91440" marT="45720" marB="45720" anchor="t">
                    <a:noFill/>
                    <a:lnL w="0">
                      <a:noFill/>
                    </a:lnL>
                    <a:lnR w="0">
                      <a:noFill/>
                    </a:lnR>
                    <a:lnT w="0">
                      <a:noFill/>
                    </a:lnT>
                    <a:lnB w="0">
                      <a:noFill/>
                    </a:lnB>
                  </a:tcPr>
                </a:tc>
                <a:tc>
                  <a:txBody>
                    <a:bodyPr wrap="square"/>
                    <a:lstStyle/>
                    <a:p>
                      <a:r>
                        <a:rPr sz="1000" b="0">
                          <a:solidFill>
                            <a:srgbClr val="565952"/>
                          </a:solidFill>
                          <a:latin typeface="Courier New"/>
                        </a:rPr>
                        <a:t>score 760 → 780</a:t>
                      </a:r>
                    </a:p>
                  </a:txBody>
                  <a:tcPr marL="0" marR="91440" marT="45720" marB="45720" anchor="t">
                    <a:noFill/>
                    <a:lnL w="0">
                      <a:noFill/>
                    </a:lnL>
                    <a:lnR w="0">
                      <a:noFill/>
                    </a:lnR>
                    <a:lnT w="0">
                      <a:noFill/>
                    </a:lnT>
                    <a:lnB w="0">
                      <a:noFill/>
                    </a:lnB>
                  </a:tcPr>
                </a:tc>
                <a:tc>
                  <a:txBody>
                    <a:bodyPr wrap="square"/>
                    <a:lstStyle/>
                    <a:p>
                      <a:r>
                        <a:rPr sz="1100" b="0">
                          <a:solidFill>
                            <a:srgbClr val="565952"/>
                          </a:solidFill>
                          <a:latin typeface="Arial"/>
                        </a:rPr>
                        <a:t>Still declined</a:t>
                      </a:r>
                    </a:p>
                  </a:txBody>
                  <a:tcPr marL="0" marR="91440" marT="45720" marB="45720" anchor="t">
                    <a:noFill/>
                    <a:lnL w="0">
                      <a:noFill/>
                    </a:lnL>
                    <a:lnR w="0">
                      <a:noFill/>
                    </a:lnR>
                    <a:lnT w="0">
                      <a:noFill/>
                    </a:lnT>
                    <a:lnB w="0">
                      <a:noFill/>
                    </a:lnB>
                  </a:tcPr>
                </a:tc>
                <a:tc>
                  <a:txBody>
                    <a:bodyPr wrap="square"/>
                    <a:lstStyle/>
                    <a:p>
                      <a:r>
                        <a:rPr sz="1450" b="1">
                          <a:solidFill>
                            <a:srgbClr val="565952"/>
                          </a:solidFill>
                          <a:latin typeface="Arial"/>
                        </a:rPr>
                        <a:t>Withheld</a:t>
                      </a:r>
                    </a:p>
                  </a:txBody>
                  <a:tcPr marL="0" marR="91440" marT="45720" marB="45720" anchor="t">
                    <a:noFill/>
                    <a:lnL w="0">
                      <a:noFill/>
                    </a:lnL>
                    <a:lnR w="0">
                      <a:noFill/>
                    </a:lnR>
                    <a:lnT w="0">
                      <a:noFill/>
                    </a:lnT>
                    <a:lnB w="0">
                      <a:noFill/>
                    </a:lnB>
                  </a:tcPr>
                </a:tc>
              </a:tr>
            </a:tbl>
          </a:graphicData>
        </a:graphic>
      </p:graphicFrame>
      <p:sp>
        <p:nvSpPr>
          <p:cNvPr id="14" name="TextBox 13"/>
          <p:cNvSpPr txBox="1"/>
          <p:nvPr/>
        </p:nvSpPr>
        <p:spPr>
          <a:xfrm>
            <a:off x="612648" y="4727294"/>
            <a:ext cx="7132320" cy="548640"/>
          </a:xfrm>
          <a:prstGeom prst="rect">
            <a:avLst/>
          </a:prstGeom>
          <a:noFill/>
        </p:spPr>
        <p:txBody>
          <a:bodyPr wrap="square" lIns="0" rIns="0" tIns="0" bIns="0" anchor="t">
            <a:spAutoFit/>
          </a:bodyPr>
          <a:lstStyle/>
          <a:p>
            <a:pPr algn="l">
              <a:lnSpc>
                <a:spcPct val="120000"/>
              </a:lnSpc>
            </a:pPr>
            <a:r>
              <a:rPr sz="1450" b="1">
                <a:solidFill>
                  <a:srgbClr val="141514"/>
                </a:solidFill>
                <a:latin typeface="Arial"/>
              </a:rPr>
              <a:t>The score was true, but it wasn't why the lender said no.</a:t>
            </a:r>
          </a:p>
          <a:p>
            <a:pPr algn="l">
              <a:lnSpc>
                <a:spcPct val="120000"/>
              </a:lnSpc>
            </a:pPr>
            <a:r>
              <a:rPr sz="1100" b="0">
                <a:solidFill>
                  <a:srgbClr val="565952"/>
                </a:solidFill>
                <a:latin typeface="Arial"/>
              </a:rPr>
              <a:t>It was already above Meridian's 720 minimum, so it can't be a principal reason.</a:t>
            </a:r>
          </a:p>
        </p:txBody>
      </p:sp>
      <p:sp>
        <p:nvSpPr>
          <p:cNvPr id="15" name="TextBox 14"/>
          <p:cNvSpPr txBox="1"/>
          <p:nvPr/>
        </p:nvSpPr>
        <p:spPr>
          <a:xfrm>
            <a:off x="8110727" y="1633728"/>
            <a:ext cx="34683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HOW IT RUNS</a:t>
            </a:r>
          </a:p>
        </p:txBody>
      </p:sp>
      <p:sp>
        <p:nvSpPr>
          <p:cNvPr id="16" name="Rectangle 15"/>
          <p:cNvSpPr/>
          <p:nvPr/>
        </p:nvSpPr>
        <p:spPr>
          <a:xfrm>
            <a:off x="8110727" y="2011493"/>
            <a:ext cx="274320" cy="274320"/>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1</a:t>
            </a:r>
          </a:p>
        </p:txBody>
      </p:sp>
      <p:sp>
        <p:nvSpPr>
          <p:cNvPr id="17" name="TextBox 16"/>
          <p:cNvSpPr txBox="1"/>
          <p:nvPr/>
        </p:nvSpPr>
        <p:spPr>
          <a:xfrm>
            <a:off x="8494776" y="1962404"/>
            <a:ext cx="3084271"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Flip one field</a:t>
            </a:r>
          </a:p>
        </p:txBody>
      </p:sp>
      <p:sp>
        <p:nvSpPr>
          <p:cNvPr id="18" name="TextBox 17"/>
          <p:cNvSpPr txBox="1"/>
          <p:nvPr/>
        </p:nvSpPr>
        <p:spPr>
          <a:xfrm>
            <a:off x="8494776" y="2218436"/>
            <a:ext cx="3084271"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Set it to a passing value and re-run the lender</a:t>
            </a:r>
          </a:p>
        </p:txBody>
      </p:sp>
      <p:sp>
        <p:nvSpPr>
          <p:cNvPr id="19" name="Rectangle 18"/>
          <p:cNvSpPr/>
          <p:nvPr/>
        </p:nvSpPr>
        <p:spPr>
          <a:xfrm>
            <a:off x="8110727" y="2756492"/>
            <a:ext cx="274320" cy="274320"/>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2</a:t>
            </a:r>
          </a:p>
        </p:txBody>
      </p:sp>
      <p:sp>
        <p:nvSpPr>
          <p:cNvPr id="20" name="TextBox 19"/>
          <p:cNvSpPr txBox="1"/>
          <p:nvPr/>
        </p:nvSpPr>
        <p:spPr>
          <a:xfrm>
            <a:off x="8494776" y="2707402"/>
            <a:ext cx="3084271"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Test pairs too</a:t>
            </a:r>
          </a:p>
        </p:txBody>
      </p:sp>
      <p:sp>
        <p:nvSpPr>
          <p:cNvPr id="21" name="TextBox 20"/>
          <p:cNvSpPr txBox="1"/>
          <p:nvPr/>
        </p:nvSpPr>
        <p:spPr>
          <a:xfrm>
            <a:off x="8494776" y="2963434"/>
            <a:ext cx="3084271"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For reasons that only matter together</a:t>
            </a:r>
          </a:p>
        </p:txBody>
      </p:sp>
      <p:sp>
        <p:nvSpPr>
          <p:cNvPr id="22" name="Rectangle 21"/>
          <p:cNvSpPr/>
          <p:nvPr/>
        </p:nvSpPr>
        <p:spPr>
          <a:xfrm>
            <a:off x="8110727" y="3501491"/>
            <a:ext cx="274320" cy="274320"/>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3</a:t>
            </a:r>
          </a:p>
        </p:txBody>
      </p:sp>
      <p:sp>
        <p:nvSpPr>
          <p:cNvPr id="23" name="TextBox 22"/>
          <p:cNvSpPr txBox="1"/>
          <p:nvPr/>
        </p:nvSpPr>
        <p:spPr>
          <a:xfrm>
            <a:off x="8494776" y="3452401"/>
            <a:ext cx="3084271"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Only tested reasons reach the letter</a:t>
            </a:r>
          </a:p>
        </p:txBody>
      </p:sp>
      <p:sp>
        <p:nvSpPr>
          <p:cNvPr id="24" name="TextBox 23"/>
          <p:cNvSpPr txBox="1"/>
          <p:nvPr/>
        </p:nvSpPr>
        <p:spPr>
          <a:xfrm>
            <a:off x="8494776" y="3708433"/>
            <a:ext cx="3084271"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Every verdict is stored</a:t>
            </a:r>
          </a:p>
        </p:txBody>
      </p:sp>
      <p:sp>
        <p:nvSpPr>
          <p:cNvPr id="25" name="Rectangle 24"/>
          <p:cNvSpPr/>
          <p:nvPr/>
        </p:nvSpPr>
        <p:spPr>
          <a:xfrm>
            <a:off x="8110727" y="4317915"/>
            <a:ext cx="3468319" cy="125992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7" y="4427474"/>
            <a:ext cx="3102559"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It caught our own agents padding</a:t>
            </a:r>
          </a:p>
        </p:txBody>
      </p:sp>
      <p:sp>
        <p:nvSpPr>
          <p:cNvPr id="27" name="TextBox 26"/>
          <p:cNvSpPr txBox="1"/>
          <p:nvPr/>
        </p:nvSpPr>
        <p:spPr>
          <a:xfrm>
            <a:off x="8293607" y="4701794"/>
            <a:ext cx="3102559" cy="640080"/>
          </a:xfrm>
          <a:prstGeom prst="rect">
            <a:avLst/>
          </a:prstGeom>
          <a:noFill/>
        </p:spPr>
        <p:txBody>
          <a:bodyPr wrap="square" lIns="0" rIns="0" tIns="0" bIns="0" anchor="t">
            <a:spAutoFit/>
          </a:bodyPr>
          <a:lstStyle/>
          <a:p>
            <a:pPr algn="l">
              <a:lnSpc>
                <a:spcPct val="115000"/>
              </a:lnSpc>
            </a:pPr>
            <a:r>
              <a:rPr sz="1100" b="0">
                <a:solidFill>
                  <a:srgbClr val="565952"/>
                </a:solidFill>
                <a:latin typeface="Arial"/>
              </a:rPr>
              <a:t>"Score meets minimum" and "fraud score below threshold": true, but not reasons. Both withheld.</a:t>
            </a:r>
          </a:p>
        </p:txBody>
      </p:sp>
      <p:sp>
        <p:nvSpPr>
          <p:cNvPr id="28"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That's what Regulation B means by a principal reason, and the test runs on every decline.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5: the response is classified in code, and the notice is written only from verified reasons, so the borrower gets a no they can act on.</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sp>
        <p:nvSpPr>
          <p:cNvPr id="12" name="TextBox 11"/>
          <p:cNvSpPr txBox="1"/>
          <p:nvPr/>
        </p:nvSpPr>
        <p:spPr>
          <a:xfrm>
            <a:off x="612648" y="1633728"/>
            <a:ext cx="54864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CLASSIFIED IN CODE · REQUESTED $30,000</a:t>
            </a:r>
          </a:p>
        </p:txBody>
      </p:sp>
      <p:sp>
        <p:nvSpPr>
          <p:cNvPr id="13" name="Rectangle 12"/>
          <p:cNvSpPr/>
          <p:nvPr/>
        </p:nvSpPr>
        <p:spPr>
          <a:xfrm>
            <a:off x="612648" y="2021856"/>
            <a:ext cx="1417320" cy="292608"/>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FFFFFF"/>
                </a:solidFill>
                <a:latin typeface="Courier New"/>
              </a:rPr>
              <a:t>OFFER</a:t>
            </a:r>
          </a:p>
        </p:txBody>
      </p:sp>
      <p:sp>
        <p:nvSpPr>
          <p:cNvPr id="14" name="TextBox 13"/>
          <p:cNvSpPr txBox="1"/>
          <p:nvPr/>
        </p:nvSpPr>
        <p:spPr>
          <a:xfrm>
            <a:off x="2212848" y="1954387"/>
            <a:ext cx="402336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As asked, or better</a:t>
            </a:r>
          </a:p>
        </p:txBody>
      </p:sp>
      <p:sp>
        <p:nvSpPr>
          <p:cNvPr id="15" name="TextBox 14"/>
          <p:cNvSpPr txBox="1"/>
          <p:nvPr/>
        </p:nvSpPr>
        <p:spPr>
          <a:xfrm>
            <a:off x="2212848" y="2219563"/>
            <a:ext cx="4023360" cy="27432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 notice needed</a:t>
            </a:r>
          </a:p>
        </p:txBody>
      </p:sp>
      <p:sp>
        <p:nvSpPr>
          <p:cNvPr id="16" name="Rectangle 15"/>
          <p:cNvSpPr/>
          <p:nvPr/>
        </p:nvSpPr>
        <p:spPr>
          <a:xfrm>
            <a:off x="612648" y="2727307"/>
            <a:ext cx="1417320"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COUNTEROFFER</a:t>
            </a:r>
          </a:p>
        </p:txBody>
      </p:sp>
      <p:sp>
        <p:nvSpPr>
          <p:cNvPr id="17" name="TextBox 16"/>
          <p:cNvSpPr txBox="1"/>
          <p:nvPr/>
        </p:nvSpPr>
        <p:spPr>
          <a:xfrm>
            <a:off x="2212848" y="2659838"/>
            <a:ext cx="402336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Less money or different terms</a:t>
            </a:r>
          </a:p>
        </p:txBody>
      </p:sp>
      <p:sp>
        <p:nvSpPr>
          <p:cNvPr id="18" name="TextBox 17"/>
          <p:cNvSpPr txBox="1"/>
          <p:nvPr/>
        </p:nvSpPr>
        <p:spPr>
          <a:xfrm>
            <a:off x="2212848" y="2925014"/>
            <a:ext cx="4023360" cy="27432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Notice if the borrower says no</a:t>
            </a:r>
          </a:p>
        </p:txBody>
      </p:sp>
      <p:sp>
        <p:nvSpPr>
          <p:cNvPr id="19" name="Rectangle 18"/>
          <p:cNvSpPr/>
          <p:nvPr/>
        </p:nvSpPr>
        <p:spPr>
          <a:xfrm>
            <a:off x="612648" y="3432758"/>
            <a:ext cx="1417320" cy="292608"/>
          </a:xfrm>
          <a:prstGeom prst="rect">
            <a:avLst/>
          </a:prstGeom>
          <a:solidFill>
            <a:srgbClr val="FF5A1F"/>
          </a:solidFill>
          <a:ln w="9525">
            <a:solidFill>
              <a:srgbClr val="FF5A1F"/>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900" b="0">
                <a:solidFill>
                  <a:srgbClr val="141514"/>
                </a:solidFill>
                <a:latin typeface="Courier New"/>
              </a:rPr>
              <a:t>DECLINED</a:t>
            </a:r>
          </a:p>
        </p:txBody>
      </p:sp>
      <p:sp>
        <p:nvSpPr>
          <p:cNvPr id="20" name="TextBox 19"/>
          <p:cNvSpPr txBox="1"/>
          <p:nvPr/>
        </p:nvSpPr>
        <p:spPr>
          <a:xfrm>
            <a:off x="2212848" y="3365289"/>
            <a:ext cx="402336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Adverse action</a:t>
            </a:r>
          </a:p>
        </p:txBody>
      </p:sp>
      <p:sp>
        <p:nvSpPr>
          <p:cNvPr id="21" name="TextBox 20"/>
          <p:cNvSpPr txBox="1"/>
          <p:nvPr/>
        </p:nvSpPr>
        <p:spPr>
          <a:xfrm>
            <a:off x="2212848" y="3630465"/>
            <a:ext cx="4023360" cy="27432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Notice required</a:t>
            </a:r>
          </a:p>
        </p:txBody>
      </p:sp>
      <p:sp>
        <p:nvSpPr>
          <p:cNvPr id="22" name="TextBox 21"/>
          <p:cNvSpPr txBox="1"/>
          <p:nvPr/>
        </p:nvSpPr>
        <p:spPr>
          <a:xfrm>
            <a:off x="612648" y="4199002"/>
            <a:ext cx="54864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EVERY NOTICE HAS</a:t>
            </a:r>
          </a:p>
        </p:txBody>
      </p:sp>
      <p:sp>
        <p:nvSpPr>
          <p:cNvPr id="23" name="TextBox 22"/>
          <p:cNvSpPr txBox="1"/>
          <p:nvPr/>
        </p:nvSpPr>
        <p:spPr>
          <a:xfrm>
            <a:off x="612648" y="4487597"/>
            <a:ext cx="548640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The tested reasons, with the numbers</a:t>
            </a:r>
          </a:p>
        </p:txBody>
      </p:sp>
      <p:sp>
        <p:nvSpPr>
          <p:cNvPr id="24" name="TextBox 23"/>
          <p:cNvSpPr txBox="1"/>
          <p:nvPr/>
        </p:nvSpPr>
        <p:spPr>
          <a:xfrm>
            <a:off x="612648" y="4872389"/>
            <a:ext cx="548640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"CRS did not make this decision"</a:t>
            </a:r>
          </a:p>
        </p:txBody>
      </p:sp>
      <p:sp>
        <p:nvSpPr>
          <p:cNvPr id="25" name="TextBox 24"/>
          <p:cNvSpPr txBox="1"/>
          <p:nvPr/>
        </p:nvSpPr>
        <p:spPr>
          <a:xfrm>
            <a:off x="612648" y="5257180"/>
            <a:ext cx="548640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 free report and the right to dispute</a:t>
            </a:r>
          </a:p>
        </p:txBody>
      </p:sp>
      <p:sp>
        <p:nvSpPr>
          <p:cNvPr id="26" name="TextBox 25"/>
          <p:cNvSpPr txBox="1"/>
          <p:nvPr/>
        </p:nvSpPr>
        <p:spPr>
          <a:xfrm>
            <a:off x="6556248" y="1633728"/>
            <a:ext cx="502279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DISPUTE ONE TRADELINE → ALL FIVE LENDERS RE-RUN</a:t>
            </a:r>
          </a:p>
        </p:txBody>
      </p:sp>
      <p:graphicFrame>
        <p:nvGraphicFramePr>
          <p:cNvPr id="27" name="Table 26"/>
          <p:cNvGraphicFramePr>
            <a:graphicFrameLocks noGrp="1"/>
          </p:cNvGraphicFramePr>
          <p:nvPr/>
        </p:nvGraphicFramePr>
        <p:xfrm>
          <a:off x="6556248" y="2081921"/>
          <a:ext cx="5029200" cy="3495913"/>
        </p:xfrm>
        <a:graphic>
          <a:graphicData uri="http://schemas.openxmlformats.org/drawingml/2006/table">
            <a:tbl>
              <a:tblPr firstRow="0" bandRow="0">
                <a:tableStyleId>{2D5ABB26-0587-4C30-8999-92F81FD0307C}</a:tableStyleId>
              </a:tblPr>
              <a:tblGrid>
                <a:gridCol w="2103120"/>
                <a:gridCol w="1371600"/>
                <a:gridCol w="1554480"/>
              </a:tblGrid>
              <a:tr h="507953">
                <a:tc>
                  <a:txBody>
                    <a:bodyPr wrap="square"/>
                    <a:lstStyle/>
                    <a:p>
                      <a:r>
                        <a:rPr sz="900" b="0">
                          <a:solidFill>
                            <a:srgbClr val="565952"/>
                          </a:solidFill>
                          <a:latin typeface="Courier New"/>
                        </a:rPr>
                        <a:t>LENDER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BEFORE</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AFTER</a:t>
                      </a:r>
                    </a:p>
                  </a:txBody>
                  <a:tcPr marL="0" marR="91440" marT="0" marB="45720" anchor="b">
                    <a:noFill/>
                    <a:lnL w="0">
                      <a:noFill/>
                    </a:lnL>
                    <a:lnR w="0">
                      <a:noFill/>
                    </a:lnR>
                    <a:lnT w="0">
                      <a:noFill/>
                    </a:lnT>
                    <a:lnB w="15875" cap="flat" cmpd="sng" algn="ctr">
                      <a:solidFill>
                        <a:srgbClr val="141514"/>
                      </a:solidFill>
                      <a:prstDash val="solid"/>
                    </a:lnB>
                  </a:tcPr>
                </a:tc>
              </a:tr>
              <a:tr h="597592">
                <a:tc>
                  <a:txBody>
                    <a:bodyPr wrap="square"/>
                    <a:lstStyle/>
                    <a:p>
                      <a:r>
                        <a:rPr sz="1300" b="1">
                          <a:solidFill>
                            <a:srgbClr val="141514"/>
                          </a:solidFill>
                          <a:latin typeface="Arial"/>
                        </a:rPr>
                        <a:t>Pacific Ridge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12.90%</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Cascade Regional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11.25%</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Northstar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29.90%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21.90%</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Harbor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0">
                          <a:solidFill>
                            <a:srgbClr val="565952"/>
                          </a:solidFill>
                          <a:latin typeface="Arial"/>
                        </a:rPr>
                        <a:t>31.90%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00" b="1">
                          <a:solidFill>
                            <a:srgbClr val="1C46C9"/>
                          </a:solidFill>
                          <a:latin typeface="Arial"/>
                        </a:rPr>
                        <a:t>27.90%</a:t>
                      </a:r>
                    </a:p>
                  </a:txBody>
                  <a:tcPr marL="0" marR="91440" marT="45720" marB="45720" anchor="t">
                    <a:noFill/>
                    <a:lnL w="0">
                      <a:noFill/>
                    </a:lnL>
                    <a:lnR w="0">
                      <a:noFill/>
                    </a:lnR>
                    <a:lnT w="0">
                      <a:noFill/>
                    </a:lnT>
                    <a:lnB w="9525" cap="flat" cmpd="sng" algn="ctr">
                      <a:solidFill>
                        <a:srgbClr val="C9CBC4"/>
                      </a:solidFill>
                      <a:prstDash val="solid"/>
                    </a:lnB>
                  </a:tcPr>
                </a:tc>
              </a:tr>
              <a:tr h="597592">
                <a:tc>
                  <a:txBody>
                    <a:bodyPr wrap="square"/>
                    <a:lstStyle/>
                    <a:p>
                      <a:r>
                        <a:rPr sz="1300" b="1">
                          <a:solidFill>
                            <a:srgbClr val="141514"/>
                          </a:solidFill>
                          <a:latin typeface="Arial"/>
                        </a:rPr>
                        <a:t>Meridian Prime</a:t>
                      </a:r>
                    </a:p>
                  </a:txBody>
                  <a:tcPr marL="0" marR="91440" marT="45720" marB="45720" anchor="t">
                    <a:noFill/>
                    <a:lnL w="0">
                      <a:noFill/>
                    </a:lnL>
                    <a:lnR w="0">
                      <a:noFill/>
                    </a:lnR>
                    <a:lnT w="0">
                      <a:noFill/>
                    </a:lnT>
                    <a:lnB w="0">
                      <a:noFill/>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0">
                      <a:noFill/>
                    </a:lnB>
                  </a:tcPr>
                </a:tc>
                <a:tc>
                  <a:txBody>
                    <a:bodyPr wrap="square"/>
                    <a:lstStyle/>
                    <a:p>
                      <a:r>
                        <a:rPr sz="1300" b="0">
                          <a:solidFill>
                            <a:srgbClr val="565952"/>
                          </a:solidFill>
                          <a:latin typeface="Arial"/>
                        </a:rPr>
                        <a:t>Declined</a:t>
                      </a:r>
                    </a:p>
                  </a:txBody>
                  <a:tcPr marL="0" marR="91440" marT="45720" marB="45720" anchor="t">
                    <a:noFill/>
                    <a:lnL w="0">
                      <a:noFill/>
                    </a:lnL>
                    <a:lnR w="0">
                      <a:noFill/>
                    </a:lnR>
                    <a:lnT w="0">
                      <a:noFill/>
                    </a:lnT>
                    <a:lnB w="0">
                      <a:noFill/>
                    </a:lnB>
                  </a:tcPr>
                </a:tc>
              </a:tr>
            </a:tbl>
          </a:graphicData>
        </a:graphic>
      </p:graphicFrame>
      <p:sp>
        <p:nvSpPr>
          <p:cNvPr id="28"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 no the borrower can act on: fix the file, and the offers change in front of them.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6: nothing funds until a person signs, and Convex keeps all six layers durable, live and logged as one workflow.</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sp>
        <p:nvSpPr>
          <p:cNvPr id="12" name="TextBox 11"/>
          <p:cNvSpPr txBox="1"/>
          <p:nvPr/>
        </p:nvSpPr>
        <p:spPr>
          <a:xfrm>
            <a:off x="612648" y="1633728"/>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THE HUMAN SEAT</a:t>
            </a:r>
          </a:p>
        </p:txBody>
      </p:sp>
      <p:sp>
        <p:nvSpPr>
          <p:cNvPr id="13" name="TextBox 12"/>
          <p:cNvSpPr txBox="1"/>
          <p:nvPr/>
        </p:nvSpPr>
        <p:spPr>
          <a:xfrm>
            <a:off x="612648" y="2086881"/>
            <a:ext cx="512064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 person makes the final call on every file</a:t>
            </a:r>
          </a:p>
        </p:txBody>
      </p:sp>
      <p:sp>
        <p:nvSpPr>
          <p:cNvPr id="14" name="TextBox 13"/>
          <p:cNvSpPr txBox="1"/>
          <p:nvPr/>
        </p:nvSpPr>
        <p:spPr>
          <a:xfrm>
            <a:off x="612648" y="2416065"/>
            <a:ext cx="5120640" cy="548640"/>
          </a:xfrm>
          <a:prstGeom prst="rect">
            <a:avLst/>
          </a:prstGeom>
          <a:noFill/>
        </p:spPr>
        <p:txBody>
          <a:bodyPr wrap="square" lIns="0" rIns="0" tIns="0" bIns="0" anchor="t">
            <a:spAutoFit/>
          </a:bodyPr>
          <a:lstStyle/>
          <a:p>
            <a:pPr algn="l">
              <a:lnSpc>
                <a:spcPct val="115000"/>
              </a:lnSpc>
            </a:pPr>
            <a:r>
              <a:rPr sz="1100" b="0">
                <a:solidFill>
                  <a:srgbClr val="565952"/>
                </a:solidFill>
                <a:latin typeface="Arial"/>
              </a:rPr>
              <a:t>A ranked queue: approve the best offer, decline, or send the notice. Every click is logged with who and when.</a:t>
            </a:r>
          </a:p>
        </p:txBody>
      </p:sp>
      <p:sp>
        <p:nvSpPr>
          <p:cNvPr id="15" name="Rectangle 14"/>
          <p:cNvSpPr/>
          <p:nvPr/>
        </p:nvSpPr>
        <p:spPr>
          <a:xfrm>
            <a:off x="61264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Console</a:t>
            </a:r>
          </a:p>
        </p:txBody>
      </p:sp>
      <p:sp>
        <p:nvSpPr>
          <p:cNvPr id="17" name="TextBox 16"/>
          <p:cNvSpPr txBox="1"/>
          <p:nvPr/>
        </p:nvSpPr>
        <p:spPr>
          <a:xfrm>
            <a:off x="72237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loan officer's desk</a:t>
            </a:r>
          </a:p>
        </p:txBody>
      </p:sp>
      <p:sp>
        <p:nvSpPr>
          <p:cNvPr id="18" name="Rectangle 17"/>
          <p:cNvSpPr/>
          <p:nvPr/>
        </p:nvSpPr>
        <p:spPr>
          <a:xfrm>
            <a:off x="235000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973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Board</a:t>
            </a:r>
          </a:p>
        </p:txBody>
      </p:sp>
      <p:sp>
        <p:nvSpPr>
          <p:cNvPr id="20" name="TextBox 19"/>
          <p:cNvSpPr txBox="1"/>
          <p:nvPr/>
        </p:nvSpPr>
        <p:spPr>
          <a:xfrm>
            <a:off x="245973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judges' live screen</a:t>
            </a:r>
          </a:p>
        </p:txBody>
      </p:sp>
      <p:sp>
        <p:nvSpPr>
          <p:cNvPr id="21" name="Rectangle 20"/>
          <p:cNvSpPr/>
          <p:nvPr/>
        </p:nvSpPr>
        <p:spPr>
          <a:xfrm>
            <a:off x="408736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9709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Phone</a:t>
            </a:r>
          </a:p>
        </p:txBody>
      </p:sp>
      <p:sp>
        <p:nvSpPr>
          <p:cNvPr id="23" name="TextBox 22"/>
          <p:cNvSpPr txBox="1"/>
          <p:nvPr/>
        </p:nvSpPr>
        <p:spPr>
          <a:xfrm>
            <a:off x="419709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borrower: code in, offers out</a:t>
            </a:r>
          </a:p>
        </p:txBody>
      </p:sp>
      <p:graphicFrame>
        <p:nvGraphicFramePr>
          <p:cNvPr id="24" name="Table 23"/>
          <p:cNvGraphicFramePr>
            <a:graphicFrameLocks noGrp="1"/>
          </p:cNvGraphicFramePr>
          <p:nvPr/>
        </p:nvGraphicFramePr>
        <p:xfrm>
          <a:off x="6281928" y="1633728"/>
          <a:ext cx="5297119" cy="3062457"/>
        </p:xfrm>
        <a:graphic>
          <a:graphicData uri="http://schemas.openxmlformats.org/drawingml/2006/table">
            <a:tbl>
              <a:tblPr firstRow="0" bandRow="0">
                <a:tableStyleId>{2D5ABB26-0587-4C30-8999-92F81FD0307C}</a:tableStyleId>
              </a:tblPr>
              <a:tblGrid>
                <a:gridCol w="1645920"/>
                <a:gridCol w="3651199"/>
              </a:tblGrid>
              <a:tr h="356859">
                <a:tc>
                  <a:txBody>
                    <a:bodyPr wrap="square"/>
                    <a:lstStyle/>
                    <a:p>
                      <a:r>
                        <a:rPr sz="950" b="0">
                          <a:solidFill>
                            <a:srgbClr val="565952"/>
                          </a:solidFill>
                          <a:latin typeface="Courier New"/>
                        </a:rPr>
                        <a:t>CONVEX</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WHAT IT DOES FOR DOCKET</a:t>
                      </a:r>
                    </a:p>
                  </a:txBody>
                  <a:tcPr marL="0" marR="91440" marT="0" marB="45720" anchor="b">
                    <a:noFill/>
                    <a:lnL w="0">
                      <a:noFill/>
                    </a:lnL>
                    <a:lnR w="0">
                      <a:noFill/>
                    </a:lnR>
                    <a:lnT w="0">
                      <a:noFill/>
                    </a:lnT>
                    <a:lnB w="15875" cap="flat" cmpd="sng" algn="ctr">
                      <a:solidFill>
                        <a:srgbClr val="141514"/>
                      </a:solidFill>
                      <a:prstDash val="solid"/>
                    </a:lnB>
                  </a:tcPr>
                </a:tc>
              </a:tr>
              <a:tr h="753369">
                <a:tc>
                  <a:txBody>
                    <a:bodyPr wrap="square"/>
                    <a:lstStyle/>
                    <a:p>
                      <a:r>
                        <a:rPr sz="1300" b="1">
                          <a:solidFill>
                            <a:srgbClr val="141514"/>
                          </a:solidFill>
                          <a:latin typeface="Arial"/>
                        </a:rPr>
                        <a:t>Durable workflow</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Runs all six layers in order</a:t>
                      </a:r>
                    </a:p>
                    <a:p>
                      <a:pPr>
                        <a:spcBef>
                          <a:spcPts val="200"/>
                        </a:spcBef>
                      </a:pPr>
                      <a:r>
                        <a:rPr sz="1100" b="0">
                          <a:solidFill>
                            <a:srgbClr val="565952"/>
                          </a:solidFill>
                          <a:latin typeface="Arial"/>
                        </a:rPr>
                        <a:t>Retries each step; one lender failing doesn't hold up the rest</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Live queries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Every screen updates at once</a:t>
                      </a:r>
                    </a:p>
                    <a:p>
                      <a:pPr>
                        <a:spcBef>
                          <a:spcPts val="200"/>
                        </a:spcBef>
                      </a:pPr>
                      <a:r>
                        <a:rPr sz="1100" b="0">
                          <a:solidFill>
                            <a:srgbClr val="565952"/>
                          </a:solidFill>
                          <a:latin typeface="Arial"/>
                        </a:rPr>
                        <a:t>Console, board and phone read the same tables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Scheduler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Tests itself every night</a:t>
                      </a:r>
                    </a:p>
                    <a:p>
                      <a:pPr>
                        <a:spcBef>
                          <a:spcPts val="200"/>
                        </a:spcBef>
                      </a:pPr>
                      <a:r>
                        <a:rPr sz="1100" b="0">
                          <a:solidFill>
                            <a:srgbClr val="565952"/>
                          </a:solidFill>
                          <a:latin typeface="Arial"/>
                        </a:rPr>
                        <a:t>The 20-applicant eval, plus replays if the wifi fails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HTTP endpoints</a:t>
                      </a:r>
                    </a:p>
                  </a:txBody>
                  <a:tcPr marL="0" marR="91440" marT="45720" marB="45720" anchor="t">
                    <a:noFill/>
                    <a:lnL w="0">
                      <a:noFill/>
                    </a:lnL>
                    <a:lnR w="0">
                      <a:noFill/>
                    </a:lnR>
                    <a:lnT w="0">
                      <a:noFill/>
                    </a:lnT>
                    <a:lnB w="0">
                      <a:noFill/>
                    </a:lnB>
                  </a:tcPr>
                </a:tc>
                <a:tc>
                  <a:txBody>
                    <a:bodyPr wrap="square"/>
                    <a:lstStyle/>
                    <a:p>
                      <a:r>
                        <a:rPr sz="1400" b="1">
                          <a:solidFill>
                            <a:srgbClr val="141514"/>
                          </a:solidFill>
                          <a:latin typeface="Arial"/>
                        </a:rPr>
                        <a:t>Health check and agent webhooks</a:t>
                      </a:r>
                    </a:p>
                    <a:p>
                      <a:pPr>
                        <a:spcBef>
                          <a:spcPts val="200"/>
                        </a:spcBef>
                      </a:pPr>
                      <a:r>
                        <a:rPr sz="1100" b="0">
                          <a:solidFill>
                            <a:srgbClr val="565952"/>
                          </a:solidFill>
                          <a:latin typeface="Arial"/>
                        </a:rPr>
                        <a:t/>
                      </a:r>
                    </a:p>
                  </a:txBody>
                  <a:tcPr marL="0" marR="91440" marT="45720" marB="45720" anchor="t">
                    <a:noFill/>
                    <a:lnL w="0">
                      <a:noFill/>
                    </a:lnL>
                    <a:lnR w="0">
                      <a:noFill/>
                    </a:lnR>
                    <a:lnT w="0">
                      <a:noFill/>
                    </a:lnT>
                    <a:lnB w="0">
                      <a:noFill/>
                    </a:lnB>
                  </a:tcPr>
                </a:tc>
              </a:tr>
            </a:tbl>
          </a:graphicData>
        </a:graphic>
      </p:graphicFrame>
      <p:sp>
        <p:nvSpPr>
          <p:cNvPr id="25" name="TextBox 24"/>
          <p:cNvSpPr txBox="1"/>
          <p:nvPr/>
        </p:nvSpPr>
        <p:spPr>
          <a:xfrm>
            <a:off x="6281928" y="4937592"/>
            <a:ext cx="914400"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AGENTS</a:t>
            </a:r>
          </a:p>
        </p:txBody>
      </p:sp>
      <p:sp>
        <p:nvSpPr>
          <p:cNvPr id="26" name="Rectangle 25"/>
          <p:cNvSpPr/>
          <p:nvPr/>
        </p:nvSpPr>
        <p:spPr>
          <a:xfrm>
            <a:off x="6967728" y="4904039"/>
            <a:ext cx="2249424"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CLAUDE-HAIKU-5-5 · 5 UNDERWRITERS</a:t>
            </a:r>
          </a:p>
        </p:txBody>
      </p:sp>
      <p:sp>
        <p:nvSpPr>
          <p:cNvPr id="27" name="Rectangle 26"/>
          <p:cNvSpPr/>
          <p:nvPr/>
        </p:nvSpPr>
        <p:spPr>
          <a:xfrm>
            <a:off x="9308592" y="4904039"/>
            <a:ext cx="1822704"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CLAUDE-SONNET-5-5 · NOTICE</a:t>
            </a:r>
          </a:p>
        </p:txBody>
      </p:sp>
      <p:sp>
        <p:nvSpPr>
          <p:cNvPr id="28" name="Rectangle 27"/>
          <p:cNvSpPr/>
          <p:nvPr/>
        </p:nvSpPr>
        <p:spPr>
          <a:xfrm>
            <a:off x="6967728" y="5302881"/>
            <a:ext cx="1030224" cy="256032"/>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ANTHROPIC SDK</a:t>
            </a:r>
          </a:p>
        </p:txBody>
      </p:sp>
      <p:sp>
        <p:nvSpPr>
          <p:cNvPr id="29"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Agents do the work. A person makes the final call. Every step is on the record.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solidFill>
            <a:srgbClr val="141514"/>
          </a:solid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Layer 6: nothing funds until a person signs, CREAO hosts the agents, and Convex keeps the six layers durable, live and logged as one workflow.</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
            </a:r>
          </a:p>
        </p:txBody>
      </p:sp>
      <p:sp>
        <p:nvSpPr>
          <p:cNvPr id="12" name="TextBox 11"/>
          <p:cNvSpPr txBox="1"/>
          <p:nvPr/>
        </p:nvSpPr>
        <p:spPr>
          <a:xfrm>
            <a:off x="612648" y="1633728"/>
            <a:ext cx="457200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THE HUMAN SEAT</a:t>
            </a:r>
          </a:p>
        </p:txBody>
      </p:sp>
      <p:sp>
        <p:nvSpPr>
          <p:cNvPr id="13" name="TextBox 12"/>
          <p:cNvSpPr txBox="1"/>
          <p:nvPr/>
        </p:nvSpPr>
        <p:spPr>
          <a:xfrm>
            <a:off x="612648" y="2086881"/>
            <a:ext cx="512064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 person makes the final call on every file</a:t>
            </a:r>
          </a:p>
        </p:txBody>
      </p:sp>
      <p:sp>
        <p:nvSpPr>
          <p:cNvPr id="14" name="TextBox 13"/>
          <p:cNvSpPr txBox="1"/>
          <p:nvPr/>
        </p:nvSpPr>
        <p:spPr>
          <a:xfrm>
            <a:off x="612648" y="2416065"/>
            <a:ext cx="5120640" cy="548640"/>
          </a:xfrm>
          <a:prstGeom prst="rect">
            <a:avLst/>
          </a:prstGeom>
          <a:noFill/>
        </p:spPr>
        <p:txBody>
          <a:bodyPr wrap="square" lIns="0" rIns="0" tIns="0" bIns="0" anchor="t">
            <a:spAutoFit/>
          </a:bodyPr>
          <a:lstStyle/>
          <a:p>
            <a:pPr algn="l">
              <a:lnSpc>
                <a:spcPct val="115000"/>
              </a:lnSpc>
            </a:pPr>
            <a:r>
              <a:rPr sz="1100" b="0">
                <a:solidFill>
                  <a:srgbClr val="565952"/>
                </a:solidFill>
                <a:latin typeface="Arial"/>
              </a:rPr>
              <a:t>A ranked queue: approve the best offer, decline, or send the notice. Every click is logged with who and when.</a:t>
            </a:r>
          </a:p>
        </p:txBody>
      </p:sp>
      <p:sp>
        <p:nvSpPr>
          <p:cNvPr id="15" name="Rectangle 14"/>
          <p:cNvSpPr/>
          <p:nvPr/>
        </p:nvSpPr>
        <p:spPr>
          <a:xfrm>
            <a:off x="61264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Console</a:t>
            </a:r>
          </a:p>
        </p:txBody>
      </p:sp>
      <p:sp>
        <p:nvSpPr>
          <p:cNvPr id="17" name="TextBox 16"/>
          <p:cNvSpPr txBox="1"/>
          <p:nvPr/>
        </p:nvSpPr>
        <p:spPr>
          <a:xfrm>
            <a:off x="72237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loan officer's desk</a:t>
            </a:r>
          </a:p>
        </p:txBody>
      </p:sp>
      <p:sp>
        <p:nvSpPr>
          <p:cNvPr id="18" name="Rectangle 17"/>
          <p:cNvSpPr/>
          <p:nvPr/>
        </p:nvSpPr>
        <p:spPr>
          <a:xfrm>
            <a:off x="235000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973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Board</a:t>
            </a:r>
          </a:p>
        </p:txBody>
      </p:sp>
      <p:sp>
        <p:nvSpPr>
          <p:cNvPr id="20" name="TextBox 19"/>
          <p:cNvSpPr txBox="1"/>
          <p:nvPr/>
        </p:nvSpPr>
        <p:spPr>
          <a:xfrm>
            <a:off x="245973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judges' live screen</a:t>
            </a:r>
          </a:p>
        </p:txBody>
      </p:sp>
      <p:sp>
        <p:nvSpPr>
          <p:cNvPr id="21" name="Rectangle 20"/>
          <p:cNvSpPr/>
          <p:nvPr/>
        </p:nvSpPr>
        <p:spPr>
          <a:xfrm>
            <a:off x="4087368" y="3983412"/>
            <a:ext cx="1600200" cy="1594427"/>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97096" y="4100896"/>
            <a:ext cx="1417320" cy="274320"/>
          </a:xfrm>
          <a:prstGeom prst="rect">
            <a:avLst/>
          </a:prstGeom>
          <a:noFill/>
        </p:spPr>
        <p:txBody>
          <a:bodyPr wrap="square" lIns="0" rIns="0" tIns="0" bIns="0" anchor="t">
            <a:spAutoFit/>
          </a:bodyPr>
          <a:lstStyle/>
          <a:p>
            <a:pPr algn="l">
              <a:lnSpc>
                <a:spcPct val="115000"/>
              </a:lnSpc>
            </a:pPr>
            <a:r>
              <a:rPr sz="1200" b="1">
                <a:solidFill>
                  <a:srgbClr val="141514"/>
                </a:solidFill>
                <a:latin typeface="Arial"/>
              </a:rPr>
              <a:t>Phone</a:t>
            </a:r>
          </a:p>
        </p:txBody>
      </p:sp>
      <p:sp>
        <p:nvSpPr>
          <p:cNvPr id="23" name="TextBox 22"/>
          <p:cNvSpPr txBox="1"/>
          <p:nvPr/>
        </p:nvSpPr>
        <p:spPr>
          <a:xfrm>
            <a:off x="4197096" y="4375216"/>
            <a:ext cx="1417320" cy="502920"/>
          </a:xfrm>
          <a:prstGeom prst="rect">
            <a:avLst/>
          </a:prstGeom>
          <a:noFill/>
        </p:spPr>
        <p:txBody>
          <a:bodyPr wrap="square" lIns="0" rIns="0" tIns="0" bIns="0" anchor="t">
            <a:spAutoFit/>
          </a:bodyPr>
          <a:lstStyle/>
          <a:p>
            <a:pPr algn="l">
              <a:lnSpc>
                <a:spcPct val="110000"/>
              </a:lnSpc>
            </a:pPr>
            <a:r>
              <a:rPr sz="1100" b="0">
                <a:solidFill>
                  <a:srgbClr val="565952"/>
                </a:solidFill>
                <a:latin typeface="Arial"/>
              </a:rPr>
              <a:t>The borrower: code in, offers out</a:t>
            </a:r>
          </a:p>
        </p:txBody>
      </p:sp>
      <p:graphicFrame>
        <p:nvGraphicFramePr>
          <p:cNvPr id="24" name="Table 23"/>
          <p:cNvGraphicFramePr>
            <a:graphicFrameLocks noGrp="1"/>
          </p:cNvGraphicFramePr>
          <p:nvPr/>
        </p:nvGraphicFramePr>
        <p:xfrm>
          <a:off x="6281928" y="1633728"/>
          <a:ext cx="5297119" cy="3062457"/>
        </p:xfrm>
        <a:graphic>
          <a:graphicData uri="http://schemas.openxmlformats.org/drawingml/2006/table">
            <a:tbl>
              <a:tblPr firstRow="0" bandRow="0">
                <a:tableStyleId>{2D5ABB26-0587-4C30-8999-92F81FD0307C}</a:tableStyleId>
              </a:tblPr>
              <a:tblGrid>
                <a:gridCol w="1645920"/>
                <a:gridCol w="3651199"/>
              </a:tblGrid>
              <a:tr h="356859">
                <a:tc>
                  <a:txBody>
                    <a:bodyPr wrap="square"/>
                    <a:lstStyle/>
                    <a:p>
                      <a:r>
                        <a:rPr sz="950" b="0">
                          <a:solidFill>
                            <a:srgbClr val="565952"/>
                          </a:solidFill>
                          <a:latin typeface="Courier New"/>
                        </a:rPr>
                        <a:t>CONVEX</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50" b="0">
                          <a:solidFill>
                            <a:srgbClr val="565952"/>
                          </a:solidFill>
                          <a:latin typeface="Courier New"/>
                        </a:rPr>
                        <a:t>WHAT IT DOES FOR DOCKET</a:t>
                      </a:r>
                    </a:p>
                  </a:txBody>
                  <a:tcPr marL="0" marR="91440" marT="0" marB="45720" anchor="b">
                    <a:noFill/>
                    <a:lnL w="0">
                      <a:noFill/>
                    </a:lnL>
                    <a:lnR w="0">
                      <a:noFill/>
                    </a:lnR>
                    <a:lnT w="0">
                      <a:noFill/>
                    </a:lnT>
                    <a:lnB w="15875" cap="flat" cmpd="sng" algn="ctr">
                      <a:solidFill>
                        <a:srgbClr val="141514"/>
                      </a:solidFill>
                      <a:prstDash val="solid"/>
                    </a:lnB>
                  </a:tcPr>
                </a:tc>
              </a:tr>
              <a:tr h="753369">
                <a:tc>
                  <a:txBody>
                    <a:bodyPr wrap="square"/>
                    <a:lstStyle/>
                    <a:p>
                      <a:r>
                        <a:rPr sz="1300" b="1">
                          <a:solidFill>
                            <a:srgbClr val="141514"/>
                          </a:solidFill>
                          <a:latin typeface="Arial"/>
                        </a:rPr>
                        <a:t>Durable workflow</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Runs all six layers in order</a:t>
                      </a:r>
                    </a:p>
                    <a:p>
                      <a:pPr>
                        <a:spcBef>
                          <a:spcPts val="200"/>
                        </a:spcBef>
                      </a:pPr>
                      <a:r>
                        <a:rPr sz="1100" b="0">
                          <a:solidFill>
                            <a:srgbClr val="565952"/>
                          </a:solidFill>
                          <a:latin typeface="Arial"/>
                        </a:rPr>
                        <a:t>Retries each step; one lender failing doesn't hold up the rest</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Live queries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Every screen updates at once</a:t>
                      </a:r>
                    </a:p>
                    <a:p>
                      <a:pPr>
                        <a:spcBef>
                          <a:spcPts val="200"/>
                        </a:spcBef>
                      </a:pPr>
                      <a:r>
                        <a:rPr sz="1100" b="0">
                          <a:solidFill>
                            <a:srgbClr val="565952"/>
                          </a:solidFill>
                          <a:latin typeface="Arial"/>
                        </a:rPr>
                        <a:t>Console, board and phone read the same tables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Scheduler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00" b="1">
                          <a:solidFill>
                            <a:srgbClr val="141514"/>
                          </a:solidFill>
                          <a:latin typeface="Arial"/>
                        </a:rPr>
                        <a:t>Tests itself every night</a:t>
                      </a:r>
                    </a:p>
                    <a:p>
                      <a:pPr>
                        <a:spcBef>
                          <a:spcPts val="200"/>
                        </a:spcBef>
                      </a:pPr>
                      <a:r>
                        <a:rPr sz="1100" b="0">
                          <a:solidFill>
                            <a:srgbClr val="565952"/>
                          </a:solidFill>
                          <a:latin typeface="Arial"/>
                        </a:rPr>
                        <a:t>The 20-applicant eval, plus replays if the wifi fails</a:t>
                      </a:r>
                    </a:p>
                  </a:txBody>
                  <a:tcPr marL="0" marR="91440" marT="45720" marB="45720" anchor="t">
                    <a:noFill/>
                    <a:lnL w="0">
                      <a:noFill/>
                    </a:lnL>
                    <a:lnR w="0">
                      <a:noFill/>
                    </a:lnR>
                    <a:lnT w="0">
                      <a:noFill/>
                    </a:lnT>
                    <a:lnB w="9525" cap="flat" cmpd="sng" algn="ctr">
                      <a:solidFill>
                        <a:srgbClr val="C9CBC4"/>
                      </a:solidFill>
                      <a:prstDash val="solid"/>
                    </a:lnB>
                  </a:tcPr>
                </a:tc>
              </a:tr>
              <a:tr h="650743">
                <a:tc>
                  <a:txBody>
                    <a:bodyPr wrap="square"/>
                    <a:lstStyle/>
                    <a:p>
                      <a:r>
                        <a:rPr sz="1300" b="1">
                          <a:solidFill>
                            <a:srgbClr val="141514"/>
                          </a:solidFill>
                          <a:latin typeface="Arial"/>
                        </a:rPr>
                        <a:t>HTTP endpoints</a:t>
                      </a:r>
                    </a:p>
                  </a:txBody>
                  <a:tcPr marL="0" marR="91440" marT="45720" marB="45720" anchor="t">
                    <a:noFill/>
                    <a:lnL w="0">
                      <a:noFill/>
                    </a:lnL>
                    <a:lnR w="0">
                      <a:noFill/>
                    </a:lnR>
                    <a:lnT w="0">
                      <a:noFill/>
                    </a:lnT>
                    <a:lnB w="0">
                      <a:noFill/>
                    </a:lnB>
                  </a:tcPr>
                </a:tc>
                <a:tc>
                  <a:txBody>
                    <a:bodyPr wrap="square"/>
                    <a:lstStyle/>
                    <a:p>
                      <a:r>
                        <a:rPr sz="1400" b="1">
                          <a:solidFill>
                            <a:srgbClr val="141514"/>
                          </a:solidFill>
                          <a:latin typeface="Arial"/>
                        </a:rPr>
                        <a:t>Health check and agent webhooks</a:t>
                      </a:r>
                    </a:p>
                    <a:p>
                      <a:pPr>
                        <a:spcBef>
                          <a:spcPts val="200"/>
                        </a:spcBef>
                      </a:pPr>
                      <a:r>
                        <a:rPr sz="1100" b="0">
                          <a:solidFill>
                            <a:srgbClr val="565952"/>
                          </a:solidFill>
                          <a:latin typeface="Arial"/>
                        </a:rPr>
                        <a:t/>
                      </a:r>
                    </a:p>
                  </a:txBody>
                  <a:tcPr marL="0" marR="91440" marT="45720" marB="45720" anchor="t">
                    <a:noFill/>
                    <a:lnL w="0">
                      <a:noFill/>
                    </a:lnL>
                    <a:lnR w="0">
                      <a:noFill/>
                    </a:lnR>
                    <a:lnT w="0">
                      <a:noFill/>
                    </a:lnT>
                    <a:lnB w="0">
                      <a:noFill/>
                    </a:lnB>
                  </a:tcPr>
                </a:tc>
              </a:tr>
            </a:tbl>
          </a:graphicData>
        </a:graphic>
      </p:graphicFrame>
      <p:sp>
        <p:nvSpPr>
          <p:cNvPr id="25" name="TextBox 24"/>
          <p:cNvSpPr txBox="1"/>
          <p:nvPr/>
        </p:nvSpPr>
        <p:spPr>
          <a:xfrm>
            <a:off x="6281928" y="4937592"/>
            <a:ext cx="914400" cy="228600"/>
          </a:xfrm>
          <a:prstGeom prst="rect">
            <a:avLst/>
          </a:prstGeom>
          <a:noFill/>
        </p:spPr>
        <p:txBody>
          <a:bodyPr wrap="square" lIns="0" rIns="0" tIns="0" bIns="0" anchor="t">
            <a:spAutoFit/>
          </a:bodyPr>
          <a:lstStyle/>
          <a:p>
            <a:pPr algn="l">
              <a:lnSpc>
                <a:spcPct val="115000"/>
              </a:lnSpc>
            </a:pPr>
            <a:r>
              <a:rPr sz="800" b="0">
                <a:solidFill>
                  <a:srgbClr val="565952"/>
                </a:solidFill>
                <a:latin typeface="Courier New"/>
              </a:rPr>
              <a:t>AGENTS</a:t>
            </a:r>
          </a:p>
        </p:txBody>
      </p:sp>
      <p:sp>
        <p:nvSpPr>
          <p:cNvPr id="26" name="Rectangle 25"/>
          <p:cNvSpPr/>
          <p:nvPr/>
        </p:nvSpPr>
        <p:spPr>
          <a:xfrm>
            <a:off x="6967728" y="4904039"/>
            <a:ext cx="2432304"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CREAO HOSTED AGENTS · 5 UNDERWRITERS</a:t>
            </a:r>
          </a:p>
        </p:txBody>
      </p:sp>
      <p:sp>
        <p:nvSpPr>
          <p:cNvPr id="27" name="Rectangle 26"/>
          <p:cNvSpPr/>
          <p:nvPr/>
        </p:nvSpPr>
        <p:spPr>
          <a:xfrm>
            <a:off x="9491472" y="4904039"/>
            <a:ext cx="1883663" cy="256032"/>
          </a:xfrm>
          <a:prstGeom prst="rect">
            <a:avLst/>
          </a:prstGeom>
          <a:solidFill>
            <a:srgbClr val="1C46C9"/>
          </a:solidFill>
          <a:ln w="9525">
            <a:solidFill>
              <a:srgbClr val="1C46C9"/>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FFFFFF"/>
                </a:solidFill>
                <a:latin typeface="Courier New"/>
              </a:rPr>
              <a:t>CREAO HOSTED AGENT · NOTICE</a:t>
            </a:r>
          </a:p>
        </p:txBody>
      </p:sp>
      <p:sp>
        <p:nvSpPr>
          <p:cNvPr id="28" name="Rectangle 27"/>
          <p:cNvSpPr/>
          <p:nvPr/>
        </p:nvSpPr>
        <p:spPr>
          <a:xfrm>
            <a:off x="6967728" y="5302881"/>
            <a:ext cx="2432304" cy="256032"/>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CLAUDE FALLBACK FOR UNUSABLE REPLIES</a:t>
            </a:r>
          </a:p>
        </p:txBody>
      </p:sp>
      <p:sp>
        <p:nvSpPr>
          <p:cNvPr id="29"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Agents do the work. A person makes the final call. Every step is on the record.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The 20-applicant deck is our test suite: every outcome matches the answer key, and 96 of 100 lender calls do.</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7</a:t>
            </a:r>
          </a:p>
        </p:txBody>
      </p:sp>
      <p:sp>
        <p:nvSpPr>
          <p:cNvPr id="12" name="Rectangle 11"/>
          <p:cNvSpPr/>
          <p:nvPr/>
        </p:nvSpPr>
        <p:spPr>
          <a:xfrm>
            <a:off x="612648" y="1633728"/>
            <a:ext cx="2225040" cy="2785200"/>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713305"/>
            <a:ext cx="1950720" cy="731520"/>
          </a:xfrm>
          <a:prstGeom prst="rect">
            <a:avLst/>
          </a:prstGeom>
          <a:noFill/>
        </p:spPr>
        <p:txBody>
          <a:bodyPr wrap="square" lIns="0" rIns="0" tIns="0" bIns="0" anchor="t">
            <a:spAutoFit/>
          </a:bodyPr>
          <a:lstStyle/>
          <a:p>
            <a:pPr algn="l">
              <a:lnSpc>
                <a:spcPct val="115000"/>
              </a:lnSpc>
            </a:pPr>
            <a:r>
              <a:rPr sz="4750" b="1">
                <a:solidFill>
                  <a:srgbClr val="1C46C9"/>
                </a:solidFill>
                <a:latin typeface="Courier New"/>
              </a:rPr>
              <a:t>20</a:t>
            </a:r>
            <a:r>
              <a:rPr sz="2500" b="0">
                <a:solidFill>
                  <a:srgbClr val="565952"/>
                </a:solidFill>
                <a:latin typeface="Courier New"/>
              </a:rPr>
              <a:t>/20</a:t>
            </a:r>
          </a:p>
        </p:txBody>
      </p:sp>
      <p:sp>
        <p:nvSpPr>
          <p:cNvPr id="14" name="TextBox 13"/>
          <p:cNvSpPr txBox="1"/>
          <p:nvPr/>
        </p:nvSpPr>
        <p:spPr>
          <a:xfrm>
            <a:off x="777240" y="3113862"/>
            <a:ext cx="1950720"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Outcomes right</a:t>
            </a:r>
          </a:p>
        </p:txBody>
      </p:sp>
      <p:sp>
        <p:nvSpPr>
          <p:cNvPr id="15" name="TextBox 14"/>
          <p:cNvSpPr txBox="1"/>
          <p:nvPr/>
        </p:nvSpPr>
        <p:spPr>
          <a:xfrm>
            <a:off x="777240" y="3424758"/>
            <a:ext cx="195072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Approve, decline or stop</a:t>
            </a:r>
          </a:p>
        </p:txBody>
      </p:sp>
      <p:sp>
        <p:nvSpPr>
          <p:cNvPr id="16" name="Rectangle 15"/>
          <p:cNvSpPr/>
          <p:nvPr/>
        </p:nvSpPr>
        <p:spPr>
          <a:xfrm>
            <a:off x="2974847" y="1633728"/>
            <a:ext cx="2225040" cy="2785200"/>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39440" y="1713305"/>
            <a:ext cx="1950720" cy="731520"/>
          </a:xfrm>
          <a:prstGeom prst="rect">
            <a:avLst/>
          </a:prstGeom>
          <a:noFill/>
        </p:spPr>
        <p:txBody>
          <a:bodyPr wrap="square" lIns="0" rIns="0" tIns="0" bIns="0" anchor="t">
            <a:spAutoFit/>
          </a:bodyPr>
          <a:lstStyle/>
          <a:p>
            <a:pPr algn="l">
              <a:lnSpc>
                <a:spcPct val="115000"/>
              </a:lnSpc>
            </a:pPr>
            <a:r>
              <a:rPr sz="4750" b="1">
                <a:solidFill>
                  <a:srgbClr val="1C46C9"/>
                </a:solidFill>
                <a:latin typeface="Courier New"/>
              </a:rPr>
              <a:t>96</a:t>
            </a:r>
            <a:r>
              <a:rPr sz="2500" b="0">
                <a:solidFill>
                  <a:srgbClr val="565952"/>
                </a:solidFill>
                <a:latin typeface="Courier New"/>
              </a:rPr>
              <a:t>/100</a:t>
            </a:r>
          </a:p>
        </p:txBody>
      </p:sp>
      <p:sp>
        <p:nvSpPr>
          <p:cNvPr id="18" name="TextBox 17"/>
          <p:cNvSpPr txBox="1"/>
          <p:nvPr/>
        </p:nvSpPr>
        <p:spPr>
          <a:xfrm>
            <a:off x="3139440" y="3113862"/>
            <a:ext cx="1950720"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Lender calls right</a:t>
            </a:r>
          </a:p>
        </p:txBody>
      </p:sp>
      <p:sp>
        <p:nvSpPr>
          <p:cNvPr id="19" name="TextBox 18"/>
          <p:cNvSpPr txBox="1"/>
          <p:nvPr/>
        </p:nvSpPr>
        <p:spPr>
          <a:xfrm>
            <a:off x="3139440" y="3424758"/>
            <a:ext cx="195072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4 misses: answer-key amounts</a:t>
            </a:r>
          </a:p>
        </p:txBody>
      </p:sp>
      <p:sp>
        <p:nvSpPr>
          <p:cNvPr id="20" name="Rectangle 19"/>
          <p:cNvSpPr/>
          <p:nvPr/>
        </p:nvSpPr>
        <p:spPr>
          <a:xfrm>
            <a:off x="5337047" y="1633728"/>
            <a:ext cx="2225040" cy="2785200"/>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1639" y="1713305"/>
            <a:ext cx="1950720" cy="731520"/>
          </a:xfrm>
          <a:prstGeom prst="rect">
            <a:avLst/>
          </a:prstGeom>
          <a:noFill/>
        </p:spPr>
        <p:txBody>
          <a:bodyPr wrap="square" lIns="0" rIns="0" tIns="0" bIns="0" anchor="t">
            <a:spAutoFit/>
          </a:bodyPr>
          <a:lstStyle/>
          <a:p>
            <a:pPr algn="l">
              <a:lnSpc>
                <a:spcPct val="115000"/>
              </a:lnSpc>
            </a:pPr>
            <a:r>
              <a:rPr sz="4750" b="1">
                <a:solidFill>
                  <a:srgbClr val="1C46C9"/>
                </a:solidFill>
                <a:latin typeface="Courier New"/>
              </a:rPr>
              <a:t>82</a:t>
            </a:r>
            <a:r>
              <a:rPr sz="2500" b="0">
                <a:solidFill>
                  <a:srgbClr val="565952"/>
                </a:solidFill>
                <a:latin typeface="Courier New"/>
              </a:rPr>
              <a:t>%</a:t>
            </a:r>
          </a:p>
        </p:txBody>
      </p:sp>
      <p:sp>
        <p:nvSpPr>
          <p:cNvPr id="22" name="TextBox 21"/>
          <p:cNvSpPr txBox="1"/>
          <p:nvPr/>
        </p:nvSpPr>
        <p:spPr>
          <a:xfrm>
            <a:off x="5501639" y="3113862"/>
            <a:ext cx="1950720" cy="32004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Reasons hold up</a:t>
            </a:r>
          </a:p>
        </p:txBody>
      </p:sp>
      <p:sp>
        <p:nvSpPr>
          <p:cNvPr id="23" name="TextBox 22"/>
          <p:cNvSpPr txBox="1"/>
          <p:nvPr/>
        </p:nvSpPr>
        <p:spPr>
          <a:xfrm>
            <a:off x="5501639" y="3424758"/>
            <a:ext cx="195072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The rest never reach a letter</a:t>
            </a:r>
          </a:p>
        </p:txBody>
      </p:sp>
      <p:sp>
        <p:nvSpPr>
          <p:cNvPr id="24" name="TextBox 23"/>
          <p:cNvSpPr txBox="1"/>
          <p:nvPr/>
        </p:nvSpPr>
        <p:spPr>
          <a:xfrm>
            <a:off x="612648" y="4816814"/>
            <a:ext cx="6949440" cy="685800"/>
          </a:xfrm>
          <a:prstGeom prst="rect">
            <a:avLst/>
          </a:prstGeom>
          <a:noFill/>
        </p:spPr>
        <p:txBody>
          <a:bodyPr wrap="square" lIns="0" rIns="0" tIns="0" bIns="0" anchor="t">
            <a:spAutoFit/>
          </a:bodyPr>
          <a:lstStyle/>
          <a:p>
            <a:pPr algn="l">
              <a:lnSpc>
                <a:spcPct val="120000"/>
              </a:lnSpc>
            </a:pPr>
            <a:r>
              <a:rPr sz="1600" b="1">
                <a:solidFill>
                  <a:srgbClr val="141514"/>
                </a:solidFill>
                <a:latin typeface="Arial"/>
              </a:rPr>
              <a:t>No invalid answers, and zero offers to fraud or deceased files.</a:t>
            </a:r>
          </a:p>
          <a:p>
            <a:pPr algn="l">
              <a:lnSpc>
                <a:spcPct val="120000"/>
              </a:lnSpc>
            </a:pPr>
            <a:r>
              <a:rPr sz="1250" b="0">
                <a:solidFill>
                  <a:srgbClr val="565952"/>
                </a:solidFill>
                <a:latin typeface="Arial"/>
              </a:rPr>
              <a:t>Consistency with our own answer key, not proof of fairness.</a:t>
            </a:r>
          </a:p>
        </p:txBody>
      </p:sp>
      <p:sp>
        <p:nvSpPr>
          <p:cNvPr id="25" name="TextBox 24"/>
          <p:cNvSpPr txBox="1"/>
          <p:nvPr/>
        </p:nvSpPr>
        <p:spPr>
          <a:xfrm>
            <a:off x="7927848" y="1633728"/>
            <a:ext cx="365119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HOW THE EVAL RUNS</a:t>
            </a:r>
          </a:p>
        </p:txBody>
      </p:sp>
      <p:sp>
        <p:nvSpPr>
          <p:cNvPr id="26" name="TextBox 25"/>
          <p:cNvSpPr txBox="1"/>
          <p:nvPr/>
        </p:nvSpPr>
        <p:spPr>
          <a:xfrm>
            <a:off x="7927848" y="220813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Every applicant, all six layers</a:t>
            </a:r>
          </a:p>
        </p:txBody>
      </p:sp>
      <p:sp>
        <p:nvSpPr>
          <p:cNvPr id="27" name="TextBox 26"/>
          <p:cNvSpPr txBox="1"/>
          <p:nvPr/>
        </p:nvSpPr>
        <p:spPr>
          <a:xfrm>
            <a:off x="7927848" y="247331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Through the real desk, in parallel</a:t>
            </a:r>
          </a:p>
        </p:txBody>
      </p:sp>
      <p:sp>
        <p:nvSpPr>
          <p:cNvPr id="28" name="TextBox 27"/>
          <p:cNvSpPr txBox="1"/>
          <p:nvPr/>
        </p:nvSpPr>
        <p:spPr>
          <a:xfrm>
            <a:off x="7927848" y="347183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Scored against our answer key</a:t>
            </a:r>
          </a:p>
        </p:txBody>
      </p:sp>
      <p:sp>
        <p:nvSpPr>
          <p:cNvPr id="29" name="TextBox 28"/>
          <p:cNvSpPr txBox="1"/>
          <p:nvPr/>
        </p:nvSpPr>
        <p:spPr>
          <a:xfrm>
            <a:off x="7927848" y="373701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Outcome, each lender, and the reasons</a:t>
            </a:r>
          </a:p>
        </p:txBody>
      </p:sp>
      <p:sp>
        <p:nvSpPr>
          <p:cNvPr id="30" name="TextBox 29"/>
          <p:cNvSpPr txBox="1"/>
          <p:nvPr/>
        </p:nvSpPr>
        <p:spPr>
          <a:xfrm>
            <a:off x="7927848" y="4735536"/>
            <a:ext cx="365119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Every night, or from a button</a:t>
            </a:r>
          </a:p>
        </p:txBody>
      </p:sp>
      <p:sp>
        <p:nvSpPr>
          <p:cNvPr id="31" name="TextBox 30"/>
          <p:cNvSpPr txBox="1"/>
          <p:nvPr/>
        </p:nvSpPr>
        <p:spPr>
          <a:xfrm>
            <a:off x="7927848" y="5000712"/>
            <a:ext cx="3651199" cy="365760"/>
          </a:xfrm>
          <a:prstGeom prst="rect">
            <a:avLst/>
          </a:prstGeom>
          <a:noFill/>
        </p:spPr>
        <p:txBody>
          <a:bodyPr wrap="square" lIns="0" rIns="0" tIns="0" bIns="0" anchor="t">
            <a:spAutoFit/>
          </a:bodyPr>
          <a:lstStyle/>
          <a:p>
            <a:pPr algn="l">
              <a:lnSpc>
                <a:spcPct val="110000"/>
              </a:lnSpc>
            </a:pPr>
            <a:r>
              <a:rPr sz="1000" b="0">
                <a:solidFill>
                  <a:srgbClr val="565952"/>
                </a:solidFill>
                <a:latin typeface="Arial"/>
              </a:rPr>
              <a:t>On the Convex scheduler</a:t>
            </a:r>
          </a:p>
        </p:txBody>
      </p:sp>
      <p:sp>
        <p:nvSpPr>
          <p:cNvPr id="32"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Fairness is next: two applicants that differ in one field must get the same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Rectangle 3"/>
          <p:cNvSpPr/>
          <p:nvPr/>
        </p:nvSpPr>
        <p:spPr>
          <a:xfrm>
            <a:off x="5498287" y="256032"/>
            <a:ext cx="64008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1 DATA</a:t>
            </a:r>
          </a:p>
        </p:txBody>
      </p:sp>
      <p:sp>
        <p:nvSpPr>
          <p:cNvPr id="5" name="Rectangle 4"/>
          <p:cNvSpPr/>
          <p:nvPr/>
        </p:nvSpPr>
        <p:spPr>
          <a:xfrm>
            <a:off x="6184087" y="256032"/>
            <a:ext cx="100583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2 HARD STOPS</a:t>
            </a:r>
          </a:p>
        </p:txBody>
      </p:sp>
      <p:sp>
        <p:nvSpPr>
          <p:cNvPr id="6" name="Rectangle 5"/>
          <p:cNvSpPr/>
          <p:nvPr/>
        </p:nvSpPr>
        <p:spPr>
          <a:xfrm>
            <a:off x="7235647" y="256032"/>
            <a:ext cx="131064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3 UNDERWRITERS ×5</a:t>
            </a:r>
          </a:p>
        </p:txBody>
      </p:sp>
      <p:sp>
        <p:nvSpPr>
          <p:cNvPr id="7" name="Rectangle 6"/>
          <p:cNvSpPr/>
          <p:nvPr/>
        </p:nvSpPr>
        <p:spPr>
          <a:xfrm>
            <a:off x="859200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4 VERIFY</a:t>
            </a:r>
          </a:p>
        </p:txBody>
      </p:sp>
      <p:sp>
        <p:nvSpPr>
          <p:cNvPr id="8" name="Rectangle 7"/>
          <p:cNvSpPr/>
          <p:nvPr/>
        </p:nvSpPr>
        <p:spPr>
          <a:xfrm>
            <a:off x="9399727" y="256032"/>
            <a:ext cx="761999"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5 NOTICE</a:t>
            </a:r>
          </a:p>
        </p:txBody>
      </p:sp>
      <p:sp>
        <p:nvSpPr>
          <p:cNvPr id="9" name="Rectangle 8"/>
          <p:cNvSpPr/>
          <p:nvPr/>
        </p:nvSpPr>
        <p:spPr>
          <a:xfrm>
            <a:off x="10207447" y="256032"/>
            <a:ext cx="1371600" cy="23774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6 HUMAN + PLATFORM</a:t>
            </a:r>
          </a:p>
        </p:txBody>
      </p:sp>
      <p:sp>
        <p:nvSpPr>
          <p:cNvPr id="10"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Draw a card and be the borrower. Then ask us what breaks.</a:t>
            </a:r>
          </a:p>
        </p:txBody>
      </p:sp>
      <p:sp>
        <p:nvSpPr>
          <p:cNvPr id="11"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10</a:t>
            </a:r>
          </a:p>
        </p:txBody>
      </p:sp>
      <p:sp>
        <p:nvSpPr>
          <p:cNvPr id="12" name="TextBox 11"/>
          <p:cNvSpPr txBox="1"/>
          <p:nvPr/>
        </p:nvSpPr>
        <p:spPr>
          <a:xfrm>
            <a:off x="612648" y="1359496"/>
            <a:ext cx="6766560" cy="822960"/>
          </a:xfrm>
          <a:prstGeom prst="rect">
            <a:avLst/>
          </a:prstGeom>
          <a:noFill/>
        </p:spPr>
        <p:txBody>
          <a:bodyPr wrap="square" lIns="0" rIns="0" tIns="0" bIns="0" anchor="t">
            <a:spAutoFit/>
          </a:bodyPr>
          <a:lstStyle/>
          <a:p>
            <a:pPr algn="l">
              <a:lnSpc>
                <a:spcPct val="130000"/>
              </a:lnSpc>
            </a:pPr>
            <a:r>
              <a:rPr sz="1750" b="1">
                <a:solidFill>
                  <a:srgbClr val="141514"/>
                </a:solidFill>
                <a:latin typeface="Arial"/>
              </a:rPr>
              <a:t>Twenty sandbox applicants, zero real people. Every card runs through all six layers live.</a:t>
            </a:r>
          </a:p>
          <a:p>
            <a:pPr algn="l">
              <a:lnSpc>
                <a:spcPct val="130000"/>
              </a:lnSpc>
            </a:pPr>
            <a:r>
              <a:rPr sz="1250" b="0">
                <a:solidFill>
                  <a:srgbClr val="565952"/>
                </a:solidFill>
                <a:latin typeface="Arial"/>
              </a:rPr>
              <a:t>Next: a real credit union's policy file in place of ours, and paired tests for fairness.</a:t>
            </a:r>
          </a:p>
        </p:txBody>
      </p:sp>
      <p:sp>
        <p:nvSpPr>
          <p:cNvPr id="13" name="TextBox 12"/>
          <p:cNvSpPr txBox="1"/>
          <p:nvPr/>
        </p:nvSpPr>
        <p:spPr>
          <a:xfrm>
            <a:off x="612648" y="2769540"/>
            <a:ext cx="6400800" cy="457200"/>
          </a:xfrm>
          <a:prstGeom prst="rect">
            <a:avLst/>
          </a:prstGeom>
          <a:noFill/>
        </p:spPr>
        <p:txBody>
          <a:bodyPr wrap="square" lIns="0" rIns="0" tIns="0" bIns="0" anchor="t">
            <a:spAutoFit/>
          </a:bodyPr>
          <a:lstStyle/>
          <a:p>
            <a:pPr algn="l">
              <a:lnSpc>
                <a:spcPct val="115000"/>
              </a:lnSpc>
            </a:pPr>
            <a:r>
              <a:rPr sz="2450" b="0">
                <a:solidFill>
                  <a:srgbClr val="141514"/>
                </a:solidFill>
                <a:latin typeface="Courier New"/>
              </a:rPr>
              <a:t>docket-sepia-ten.vercel.app</a:t>
            </a:r>
          </a:p>
        </p:txBody>
      </p:sp>
      <p:sp>
        <p:nvSpPr>
          <p:cNvPr id="14" name="TextBox 13"/>
          <p:cNvSpPr txBox="1"/>
          <p:nvPr/>
        </p:nvSpPr>
        <p:spPr>
          <a:xfrm>
            <a:off x="612648" y="3709570"/>
            <a:ext cx="338328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Swaraj Adhikari</a:t>
            </a:r>
          </a:p>
        </p:txBody>
      </p:sp>
      <p:sp>
        <p:nvSpPr>
          <p:cNvPr id="15" name="TextBox 14"/>
          <p:cNvSpPr txBox="1"/>
          <p:nvPr/>
        </p:nvSpPr>
        <p:spPr>
          <a:xfrm>
            <a:off x="612648" y="4029609"/>
            <a:ext cx="3291840" cy="640080"/>
          </a:xfrm>
          <a:prstGeom prst="rect">
            <a:avLst/>
          </a:prstGeom>
          <a:noFill/>
        </p:spPr>
        <p:txBody>
          <a:bodyPr wrap="square" lIns="0" rIns="0" tIns="0" bIns="0" anchor="t">
            <a:spAutoFit/>
          </a:bodyPr>
          <a:lstStyle/>
          <a:p>
            <a:pPr algn="l">
              <a:lnSpc>
                <a:spcPct val="120000"/>
              </a:lnSpc>
            </a:pPr>
            <a:r>
              <a:rPr sz="1250" b="0">
                <a:solidFill>
                  <a:srgbClr val="565952"/>
                </a:solidFill>
                <a:latin typeface="Arial"/>
              </a:rPr>
              <a:t>UCLA · Convex backend, agents, the phone, the board</a:t>
            </a:r>
          </a:p>
        </p:txBody>
      </p:sp>
      <p:sp>
        <p:nvSpPr>
          <p:cNvPr id="16" name="TextBox 15"/>
          <p:cNvSpPr txBox="1"/>
          <p:nvPr/>
        </p:nvSpPr>
        <p:spPr>
          <a:xfrm>
            <a:off x="4178808" y="3709570"/>
            <a:ext cx="3383280"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Matthew Pun</a:t>
            </a:r>
          </a:p>
        </p:txBody>
      </p:sp>
      <p:sp>
        <p:nvSpPr>
          <p:cNvPr id="17" name="TextBox 16"/>
          <p:cNvSpPr txBox="1"/>
          <p:nvPr/>
        </p:nvSpPr>
        <p:spPr>
          <a:xfrm>
            <a:off x="4178808" y="4029609"/>
            <a:ext cx="3291840" cy="640080"/>
          </a:xfrm>
          <a:prstGeom prst="rect">
            <a:avLst/>
          </a:prstGeom>
          <a:noFill/>
        </p:spPr>
        <p:txBody>
          <a:bodyPr wrap="square" lIns="0" rIns="0" tIns="0" bIns="0" anchor="t">
            <a:spAutoFit/>
          </a:bodyPr>
          <a:lstStyle/>
          <a:p>
            <a:pPr algn="l">
              <a:lnSpc>
                <a:spcPct val="120000"/>
              </a:lnSpc>
            </a:pPr>
            <a:r>
              <a:rPr sz="1250" b="0">
                <a:solidFill>
                  <a:srgbClr val="565952"/>
                </a:solidFill>
                <a:latin typeface="Arial"/>
              </a:rPr>
              <a:t>UC Berkeley · Lender policies, the 20 personas, the eval answer key</a:t>
            </a:r>
          </a:p>
        </p:txBody>
      </p:sp>
      <p:sp>
        <p:nvSpPr>
          <p:cNvPr id="18" name="Rectangle 17"/>
          <p:cNvSpPr/>
          <p:nvPr/>
        </p:nvSpPr>
        <p:spPr>
          <a:xfrm>
            <a:off x="612648" y="5578188"/>
            <a:ext cx="420623"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CRS</a:t>
            </a:r>
          </a:p>
        </p:txBody>
      </p:sp>
      <p:sp>
        <p:nvSpPr>
          <p:cNvPr id="19" name="Rectangle 18"/>
          <p:cNvSpPr/>
          <p:nvPr/>
        </p:nvSpPr>
        <p:spPr>
          <a:xfrm>
            <a:off x="1106424" y="5578188"/>
            <a:ext cx="603503"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CONVEX</a:t>
            </a:r>
          </a:p>
        </p:txBody>
      </p:sp>
      <p:sp>
        <p:nvSpPr>
          <p:cNvPr id="20" name="Rectangle 19"/>
          <p:cNvSpPr/>
          <p:nvPr/>
        </p:nvSpPr>
        <p:spPr>
          <a:xfrm>
            <a:off x="1783079" y="5578188"/>
            <a:ext cx="78638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HYPHENATE</a:t>
            </a:r>
          </a:p>
        </p:txBody>
      </p:sp>
      <p:sp>
        <p:nvSpPr>
          <p:cNvPr id="21" name="Rectangle 20"/>
          <p:cNvSpPr/>
          <p:nvPr/>
        </p:nvSpPr>
        <p:spPr>
          <a:xfrm>
            <a:off x="2642615" y="5578188"/>
            <a:ext cx="78638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MICROSOFT</a:t>
            </a:r>
          </a:p>
        </p:txBody>
      </p:sp>
      <p:sp>
        <p:nvSpPr>
          <p:cNvPr id="22" name="Rectangle 21"/>
          <p:cNvSpPr/>
          <p:nvPr/>
        </p:nvSpPr>
        <p:spPr>
          <a:xfrm>
            <a:off x="3502151" y="5578188"/>
            <a:ext cx="78638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ANTHROPIC</a:t>
            </a:r>
          </a:p>
        </p:txBody>
      </p:sp>
      <p:sp>
        <p:nvSpPr>
          <p:cNvPr id="23" name="Rectangle 22"/>
          <p:cNvSpPr/>
          <p:nvPr/>
        </p:nvSpPr>
        <p:spPr>
          <a:xfrm>
            <a:off x="4361688" y="5578188"/>
            <a:ext cx="103022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MOST CREATIVE</a:t>
            </a:r>
          </a:p>
        </p:txBody>
      </p:sp>
      <p:sp>
        <p:nvSpPr>
          <p:cNvPr id="24" name="Rectangle 23"/>
          <p:cNvSpPr/>
          <p:nvPr/>
        </p:nvSpPr>
        <p:spPr>
          <a:xfrm>
            <a:off x="5465064" y="5578188"/>
            <a:ext cx="176174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MOST TECHNICALLY ADVANCED</a:t>
            </a:r>
          </a:p>
        </p:txBody>
      </p:sp>
      <p:sp>
        <p:nvSpPr>
          <p:cNvPr id="25" name="Rectangle 24"/>
          <p:cNvSpPr/>
          <p:nvPr/>
        </p:nvSpPr>
        <p:spPr>
          <a:xfrm>
            <a:off x="612648" y="6061631"/>
            <a:ext cx="969264" cy="237744"/>
          </a:xfrm>
          <a:prstGeom prst="rect">
            <a:avLst/>
          </a:prstGeom>
          <a:noFill/>
          <a:ln w="9525">
            <a:solidFill>
              <a:srgbClr val="C9CB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800" b="0">
                <a:solidFill>
                  <a:srgbClr val="565952"/>
                </a:solidFill>
                <a:latin typeface="Courier New"/>
              </a:rPr>
              <a:t>PEOPLE-FIRST</a:t>
            </a:r>
          </a:p>
        </p:txBody>
      </p:sp>
      <p:sp>
        <p:nvSpPr>
          <p:cNvPr id="26" name="Rectangle 25"/>
          <p:cNvSpPr/>
          <p:nvPr/>
        </p:nvSpPr>
        <p:spPr>
          <a:xfrm>
            <a:off x="7372807" y="1292352"/>
            <a:ext cx="4206240" cy="5062728"/>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qr.png"/>
          <p:cNvPicPr>
            <a:picLocks noChangeAspect="1"/>
          </p:cNvPicPr>
          <p:nvPr/>
        </p:nvPicPr>
        <p:blipFill>
          <a:blip r:embed="rId3"/>
          <a:stretch>
            <a:fillRect/>
          </a:stretch>
        </p:blipFill>
        <p:spPr>
          <a:xfrm>
            <a:off x="7555687" y="1475232"/>
            <a:ext cx="3840480" cy="3840480"/>
          </a:xfrm>
          <a:prstGeom prst="rect">
            <a:avLst/>
          </a:prstGeom>
        </p:spPr>
      </p:pic>
      <p:sp>
        <p:nvSpPr>
          <p:cNvPr id="28" name="TextBox 27"/>
          <p:cNvSpPr txBox="1"/>
          <p:nvPr/>
        </p:nvSpPr>
        <p:spPr>
          <a:xfrm>
            <a:off x="7372807" y="5425440"/>
            <a:ext cx="4206240" cy="228600"/>
          </a:xfrm>
          <a:prstGeom prst="rect">
            <a:avLst/>
          </a:prstGeom>
          <a:noFill/>
        </p:spPr>
        <p:txBody>
          <a:bodyPr wrap="square" lIns="0" rIns="0" tIns="0" bIns="0" anchor="t">
            <a:spAutoFit/>
          </a:bodyPr>
          <a:lstStyle/>
          <a:p>
            <a:pPr algn="ctr">
              <a:lnSpc>
                <a:spcPct val="115000"/>
              </a:lnSpc>
            </a:pPr>
            <a:r>
              <a:rPr sz="800" b="0">
                <a:solidFill>
                  <a:srgbClr val="565952"/>
                </a:solidFill>
                <a:latin typeface="Courier New"/>
              </a:rPr>
              <a:t>SCAN · BE THE BORROWER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Against published human benchmarks, the agent desk is faster, repeatable and cheaper per file, and a person still signs every outcome</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4</a:t>
            </a:r>
          </a:p>
        </p:txBody>
      </p:sp>
      <p:graphicFrame>
        <p:nvGraphicFramePr>
          <p:cNvPr id="6" name="Table 5"/>
          <p:cNvGraphicFramePr>
            <a:graphicFrameLocks noGrp="1"/>
          </p:cNvGraphicFramePr>
          <p:nvPr/>
        </p:nvGraphicFramePr>
        <p:xfrm>
          <a:off x="612648" y="1633728"/>
          <a:ext cx="10972800" cy="3944110"/>
        </p:xfrm>
        <a:graphic>
          <a:graphicData uri="http://schemas.openxmlformats.org/drawingml/2006/table">
            <a:tbl>
              <a:tblPr firstRow="0" bandRow="0">
                <a:tableStyleId>{2D5ABB26-0587-4C30-8999-92F81FD0307C}</a:tableStyleId>
              </a:tblPr>
              <a:tblGrid>
                <a:gridCol w="2011680"/>
                <a:gridCol w="4480560"/>
                <a:gridCol w="4480560"/>
              </a:tblGrid>
              <a:tr h="331930">
                <a:tc>
                  <a:txBody>
                    <a:bodyPr wrap="square"/>
                    <a:lstStyle/>
                    <a:p>
                      <a:r>
                        <a:rPr sz="900" b="0">
                          <a:solidFill>
                            <a:srgbClr val="565952"/>
                          </a:solidFill>
                          <a:latin typeface="Courier New"/>
                        </a:rPr>
                        <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HUMAN DESK</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DOCKET</a:t>
                      </a:r>
                    </a:p>
                  </a:txBody>
                  <a:tcPr marL="0" marR="91440" marT="0" marB="45720" anchor="b">
                    <a:noFill/>
                    <a:lnL w="0">
                      <a:noFill/>
                    </a:lnL>
                    <a:lnR w="0">
                      <a:noFill/>
                    </a:lnR>
                    <a:lnT w="0">
                      <a:noFill/>
                    </a:lnT>
                    <a:lnB w="15875" cap="flat" cmpd="sng" algn="ctr">
                      <a:solidFill>
                        <a:srgbClr val="141514"/>
                      </a:solidFill>
                      <a:prstDash val="solid"/>
                    </a:lnB>
                  </a:tcPr>
                </a:tc>
              </a:tr>
              <a:tr h="722436">
                <a:tc>
                  <a:txBody>
                    <a:bodyPr wrap="square"/>
                    <a:lstStyle/>
                    <a:p>
                      <a:r>
                        <a:rPr sz="1250" b="1">
                          <a:solidFill>
                            <a:srgbClr val="141514"/>
                          </a:solidFill>
                          <a:latin typeface="Arial"/>
                        </a:rPr>
                        <a:t>Time to decision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1 to 7 days</a:t>
                      </a:r>
                    </a:p>
                    <a:p>
                      <a:pPr>
                        <a:spcBef>
                          <a:spcPts val="200"/>
                        </a:spcBef>
                      </a:pPr>
                      <a:r>
                        <a:rPr sz="1050" b="0">
                          <a:solidFill>
                            <a:srgbClr val="565952"/>
                          </a:solidFill>
                          <a:latin typeface="Arial"/>
                        </a:rPr>
                        <a:t>Banks and credit unions, personal loans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Under a minute</a:t>
                      </a:r>
                    </a:p>
                    <a:p>
                      <a:pPr>
                        <a:spcBef>
                          <a:spcPts val="200"/>
                        </a:spcBef>
                      </a:pPr>
                      <a:r>
                        <a:rPr sz="1050" b="0">
                          <a:solidFill>
                            <a:srgbClr val="565952"/>
                          </a:solidFill>
                          <a:latin typeface="Arial"/>
                        </a:rPr>
                        <a:t>62 s from card code to the officer; hard stops in 5 s</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Consistency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Judgments drift: 55% apart on the same case</a:t>
                      </a:r>
                    </a:p>
                    <a:p>
                      <a:pPr>
                        <a:spcBef>
                          <a:spcPts val="200"/>
                        </a:spcBef>
                      </a:pPr>
                      <a:r>
                        <a:rPr sz="1050" b="0">
                          <a:solidFill>
                            <a:srgbClr val="565952"/>
                          </a:solidFill>
                          <a:latin typeface="Arial"/>
                        </a:rPr>
                        <a:t>48 underwriters pricing identical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Same file, same answer, every time</a:t>
                      </a:r>
                    </a:p>
                    <a:p>
                      <a:pPr>
                        <a:spcBef>
                          <a:spcPts val="200"/>
                        </a:spcBef>
                      </a:pPr>
                      <a:r>
                        <a:rPr sz="1050" b="0">
                          <a:solidFill>
                            <a:srgbClr val="565952"/>
                          </a:solidFill>
                          <a:latin typeface="Arial"/>
                        </a:rPr>
                        <a:t>Re-ran applicants 3 times: identical decision and APR</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Fatigue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Fewer approvals as the day wears on</a:t>
                      </a:r>
                    </a:p>
                    <a:p>
                      <a:pPr>
                        <a:spcBef>
                          <a:spcPts val="200"/>
                        </a:spcBef>
                      </a:pPr>
                      <a:r>
                        <a:rPr sz="1050" b="0">
                          <a:solidFill>
                            <a:srgbClr val="565952"/>
                          </a:solidFill>
                          <a:latin typeface="Arial"/>
                        </a:rPr>
                        <a:t>Study of ~26,500 loan requests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Time of day isn't a factor</a:t>
                      </a:r>
                    </a:p>
                    <a:p>
                      <a:pPr>
                        <a:spcBef>
                          <a:spcPts val="200"/>
                        </a:spcBef>
                      </a:pPr>
                      <a:r>
                        <a:rPr sz="1050" b="0">
                          <a:solidFill>
                            <a:srgbClr val="565952"/>
                          </a:solidFill>
                          <a:latin typeface="Arial"/>
                        </a:rPr>
                        <a:t>Only the file and the policy go in</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Reasons on a no</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41514"/>
                          </a:solidFill>
                          <a:latin typeface="Arial"/>
                        </a:rPr>
                        <a:t>Letters often miss the real reason</a:t>
                      </a:r>
                    </a:p>
                    <a:p>
                      <a:pPr>
                        <a:spcBef>
                          <a:spcPts val="200"/>
                        </a:spcBef>
                      </a:pPr>
                      <a:r>
                        <a:rPr sz="1050" b="0">
                          <a:solidFill>
                            <a:srgbClr val="565952"/>
                          </a:solidFill>
                          <a:latin typeface="Arial"/>
                        </a:rPr>
                        <a:t>A repeat finding in CFPB exams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350" b="1">
                          <a:solidFill>
                            <a:srgbClr val="1C46C9"/>
                          </a:solidFill>
                          <a:latin typeface="Arial"/>
                        </a:rPr>
                        <a:t>Every reason is tested</a:t>
                      </a:r>
                    </a:p>
                    <a:p>
                      <a:pPr>
                        <a:spcBef>
                          <a:spcPts val="200"/>
                        </a:spcBef>
                      </a:pPr>
                      <a:r>
                        <a:rPr sz="1050" b="0">
                          <a:solidFill>
                            <a:srgbClr val="565952"/>
                          </a:solidFill>
                          <a:latin typeface="Arial"/>
                        </a:rPr>
                        <a:t>82% hold up; the rest never reach the letter</a:t>
                      </a:r>
                    </a:p>
                  </a:txBody>
                  <a:tcPr marL="0" marR="91440" marT="45720" marB="45720" anchor="t">
                    <a:noFill/>
                    <a:lnL w="0">
                      <a:noFill/>
                    </a:lnL>
                    <a:lnR w="0">
                      <a:noFill/>
                    </a:lnR>
                    <a:lnT w="0">
                      <a:noFill/>
                    </a:lnT>
                    <a:lnB w="9525" cap="flat" cmpd="sng" algn="ctr">
                      <a:solidFill>
                        <a:srgbClr val="C9CBC4"/>
                      </a:solidFill>
                      <a:prstDash val="solid"/>
                    </a:lnB>
                  </a:tcPr>
                </a:tc>
              </a:tr>
              <a:tr h="722436">
                <a:tc>
                  <a:txBody>
                    <a:bodyPr wrap="square"/>
                    <a:lstStyle/>
                    <a:p>
                      <a:r>
                        <a:rPr sz="1250" b="1">
                          <a:solidFill>
                            <a:srgbClr val="141514"/>
                          </a:solidFill>
                          <a:latin typeface="Arial"/>
                        </a:rPr>
                        <a:t>Cost per file</a:t>
                      </a:r>
                    </a:p>
                  </a:txBody>
                  <a:tcPr marL="0" marR="91440" marT="45720" marB="45720" anchor="t">
                    <a:noFill/>
                    <a:lnL w="0">
                      <a:noFill/>
                    </a:lnL>
                    <a:lnR w="0">
                      <a:noFill/>
                    </a:lnR>
                    <a:lnT w="0">
                      <a:noFill/>
                    </a:lnT>
                    <a:lnB w="0">
                      <a:noFill/>
                    </a:lnB>
                  </a:tcPr>
                </a:tc>
                <a:tc>
                  <a:txBody>
                    <a:bodyPr wrap="square"/>
                    <a:lstStyle/>
                    <a:p>
                      <a:r>
                        <a:rPr sz="1350" b="1">
                          <a:solidFill>
                            <a:srgbClr val="141514"/>
                          </a:solidFill>
                          <a:latin typeface="Arial"/>
                        </a:rPr>
                        <a:t>About 60¢ a minute of officer time</a:t>
                      </a:r>
                    </a:p>
                    <a:p>
                      <a:pPr>
                        <a:spcBef>
                          <a:spcPts val="200"/>
                        </a:spcBef>
                      </a:pPr>
                      <a:r>
                        <a:rPr sz="1050" b="0">
                          <a:solidFill>
                            <a:srgbClr val="565952"/>
                          </a:solidFill>
                          <a:latin typeface="Arial"/>
                        </a:rPr>
                        <a:t>Median loan officer wage</a:t>
                      </a:r>
                    </a:p>
                  </a:txBody>
                  <a:tcPr marL="0" marR="91440" marT="45720" marB="45720" anchor="t">
                    <a:noFill/>
                    <a:lnL w="0">
                      <a:noFill/>
                    </a:lnL>
                    <a:lnR w="0">
                      <a:noFill/>
                    </a:lnR>
                    <a:lnT w="0">
                      <a:noFill/>
                    </a:lnT>
                    <a:lnB w="0">
                      <a:noFill/>
                    </a:lnB>
                  </a:tcPr>
                </a:tc>
                <a:tc>
                  <a:txBody>
                    <a:bodyPr wrap="square"/>
                    <a:lstStyle/>
                    <a:p>
                      <a:r>
                        <a:rPr sz="1350" b="1">
                          <a:solidFill>
                            <a:srgbClr val="1C46C9"/>
                          </a:solidFill>
                          <a:latin typeface="Arial"/>
                        </a:rPr>
                        <a:t>About 3¢ per application</a:t>
                      </a:r>
                    </a:p>
                    <a:p>
                      <a:pPr>
                        <a:spcBef>
                          <a:spcPts val="200"/>
                        </a:spcBef>
                      </a:pPr>
                      <a:r>
                        <a:rPr sz="1050" b="0">
                          <a:solidFill>
                            <a:srgbClr val="565952"/>
                          </a:solidFill>
                          <a:latin typeface="Arial"/>
                        </a:rPr>
                        <a:t>Model calls, estimated</a:t>
                      </a:r>
                    </a:p>
                  </a:txBody>
                  <a:tcPr marL="0" marR="91440" marT="45720" marB="45720" anchor="t">
                    <a:noFill/>
                    <a:lnL w="0">
                      <a:noFill/>
                    </a:lnL>
                    <a:lnR w="0">
                      <a:noFill/>
                    </a:lnR>
                    <a:lnT w="0">
                      <a:noFill/>
                    </a:lnT>
                    <a:lnB w="0">
                      <a:noFill/>
                    </a:lnB>
                  </a:tcPr>
                </a:tc>
              </a:tr>
            </a:tbl>
          </a:graphicData>
        </a:graphic>
      </p:graphicFrame>
      <p:sp>
        <p:nvSpPr>
          <p:cNvPr id="7"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Same judgment every time, in about a minute, and a person still signs.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On seven countable numbers, both setups get 20/20 outcomes with no invalid answers; Claude direct is about 7× faster</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12</a:t>
            </a:r>
          </a:p>
        </p:txBody>
      </p:sp>
      <p:graphicFrame>
        <p:nvGraphicFramePr>
          <p:cNvPr id="6" name="Table 5"/>
          <p:cNvGraphicFramePr>
            <a:graphicFrameLocks noGrp="1"/>
          </p:cNvGraphicFramePr>
          <p:nvPr/>
        </p:nvGraphicFramePr>
        <p:xfrm>
          <a:off x="612648" y="1633728"/>
          <a:ext cx="10972800" cy="3944105"/>
        </p:xfrm>
        <a:graphic>
          <a:graphicData uri="http://schemas.openxmlformats.org/drawingml/2006/table">
            <a:tbl>
              <a:tblPr firstRow="0" bandRow="0">
                <a:tableStyleId>{2D5ABB26-0587-4C30-8999-92F81FD0307C}</a:tableStyleId>
              </a:tblPr>
              <a:tblGrid>
                <a:gridCol w="2377440"/>
                <a:gridCol w="3566160"/>
                <a:gridCol w="2377440"/>
                <a:gridCol w="2651760"/>
              </a:tblGrid>
              <a:tr h="333351">
                <a:tc>
                  <a:txBody>
                    <a:bodyPr wrap="square"/>
                    <a:lstStyle/>
                    <a:p>
                      <a:r>
                        <a:rPr sz="900" b="0">
                          <a:solidFill>
                            <a:srgbClr val="565952"/>
                          </a:solidFill>
                          <a:latin typeface="Courier New"/>
                        </a:rPr>
                        <a:t>METRIC</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WHAT IT MEANS</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CLAUDE DIRECT · 3 LENDERS</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900" b="0">
                          <a:solidFill>
                            <a:srgbClr val="565952"/>
                          </a:solidFill>
                          <a:latin typeface="Courier New"/>
                        </a:rPr>
                        <a:t>CREAO + CLAUDE FALLBACK · 5</a:t>
                      </a:r>
                    </a:p>
                  </a:txBody>
                  <a:tcPr marL="0" marR="91440" marT="0" marB="45720" anchor="b">
                    <a:noFill/>
                    <a:lnL w="0">
                      <a:noFill/>
                    </a:lnL>
                    <a:lnR w="0">
                      <a:noFill/>
                    </a:lnR>
                    <a:lnT w="0">
                      <a:noFill/>
                    </a:lnT>
                    <a:lnB w="15875" cap="flat" cmpd="sng" algn="ctr">
                      <a:solidFill>
                        <a:srgbClr val="141514"/>
                      </a:solidFill>
                      <a:prstDash val="solid"/>
                    </a:lnB>
                  </a:tcPr>
                </a:tc>
              </a:tr>
              <a:tr h="490222">
                <a:tc>
                  <a:txBody>
                    <a:bodyPr wrap="square"/>
                    <a:lstStyle/>
                    <a:p>
                      <a:r>
                        <a:rPr sz="1250" b="1">
                          <a:solidFill>
                            <a:srgbClr val="141514"/>
                          </a:solidFill>
                          <a:latin typeface="Arial"/>
                        </a:rPr>
                        <a:t>Outcomes right</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Approve, decline or stop matches the key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20 / 20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20 / 20</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Lender calls right</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Each lender's decision matches the key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60 / 60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96 / 100</a:t>
                      </a:r>
                    </a:p>
                    <a:p>
                      <a:pPr>
                        <a:spcBef>
                          <a:spcPts val="200"/>
                        </a:spcBef>
                      </a:pPr>
                      <a:r>
                        <a:rPr sz="1050" b="0">
                          <a:solidFill>
                            <a:srgbClr val="565952"/>
                          </a:solidFill>
                          <a:latin typeface="Arial"/>
                        </a:rPr>
                        <a:t>4 misses: answer-key amounts</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Valid answers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Every lender reply is usable</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51 / 51</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85 / 85</a:t>
                      </a:r>
                    </a:p>
                    <a:p>
                      <a:pPr>
                        <a:spcBef>
                          <a:spcPts val="200"/>
                        </a:spcBef>
                      </a:pPr>
                      <a:r>
                        <a:rPr sz="1050" b="0">
                          <a:solidFill>
                            <a:srgbClr val="565952"/>
                          </a:solidFill>
                          <a:latin typeface="Arial"/>
                        </a:rPr>
                        <a:t>4 rescued by Claude</a:t>
                      </a:r>
                    </a:p>
                  </a:txBody>
                  <a:tcPr marL="0" marR="91440" marT="45720" marB="45720" anchor="t">
                    <a:noFill/>
                    <a:lnL w="0">
                      <a:noFill/>
                    </a:lnL>
                    <a:lnR w="0">
                      <a:noFill/>
                    </a:lnR>
                    <a:lnT w="0">
                      <a:noFill/>
                    </a:lnT>
                    <a:lnB w="9525" cap="flat" cmpd="sng" algn="ctr">
                      <a:solidFill>
                        <a:srgbClr val="C9CBC4"/>
                      </a:solidFill>
                      <a:prstDash val="solid"/>
                    </a:lnB>
                  </a:tcPr>
                </a:tc>
              </a:tr>
              <a:tr h="490222">
                <a:tc>
                  <a:txBody>
                    <a:bodyPr wrap="square"/>
                    <a:lstStyle/>
                    <a:p>
                      <a:r>
                        <a:rPr sz="1250" b="1">
                          <a:solidFill>
                            <a:srgbClr val="141514"/>
                          </a:solidFill>
                          <a:latin typeface="Arial"/>
                        </a:rPr>
                        <a:t>Reasons that hold up</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Fixing the cited field flips the decision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84%</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82%</a:t>
                      </a:r>
                    </a:p>
                  </a:txBody>
                  <a:tcPr marL="0" marR="91440" marT="45720" marB="45720" anchor="t">
                    <a:noFill/>
                    <a:lnL w="0">
                      <a:noFill/>
                    </a:lnL>
                    <a:lnR w="0">
                      <a:noFill/>
                    </a:lnR>
                    <a:lnT w="0">
                      <a:noFill/>
                    </a:lnT>
                    <a:lnB w="9525" cap="flat" cmpd="sng" algn="ctr">
                      <a:solidFill>
                        <a:srgbClr val="C9CBC4"/>
                      </a:solidFill>
                      <a:prstDash val="solid"/>
                    </a:lnB>
                  </a:tcPr>
                </a:tc>
              </a:tr>
              <a:tr h="490222">
                <a:tc>
                  <a:txBody>
                    <a:bodyPr wrap="square"/>
                    <a:lstStyle/>
                    <a:p>
                      <a:r>
                        <a:rPr sz="1250" b="1">
                          <a:solidFill>
                            <a:srgbClr val="141514"/>
                          </a:solidFill>
                          <a:latin typeface="Arial"/>
                        </a:rPr>
                        <a:t>Fraud files approved</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Offers to fraud, deceased or ID-fail files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0</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0</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Speed per lender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050" b="0">
                          <a:solidFill>
                            <a:srgbClr val="565952"/>
                          </a:solidFill>
                          <a:latin typeface="Arial"/>
                        </a:rPr>
                        <a:t>Median time to a decision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C46C9"/>
                          </a:solidFill>
                          <a:latin typeface="Arial"/>
                        </a:rPr>
                        <a:t>2.7 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500" b="1">
                          <a:solidFill>
                            <a:srgbClr val="141514"/>
                          </a:solidFill>
                          <a:latin typeface="Arial"/>
                        </a:rPr>
                        <a:t>20 s</a:t>
                      </a:r>
                    </a:p>
                    <a:p>
                      <a:pPr>
                        <a:spcBef>
                          <a:spcPts val="200"/>
                        </a:spcBef>
                      </a:pPr>
                      <a:r>
                        <a:rPr sz="1050" b="0">
                          <a:solidFill>
                            <a:srgbClr val="565952"/>
                          </a:solidFill>
                          <a:latin typeface="Arial"/>
                        </a:rPr>
                        <a:t>58 s with 20 at once</a:t>
                      </a:r>
                    </a:p>
                  </a:txBody>
                  <a:tcPr marL="0" marR="91440" marT="45720" marB="45720" anchor="t">
                    <a:noFill/>
                    <a:lnL w="0">
                      <a:noFill/>
                    </a:lnL>
                    <a:lnR w="0">
                      <a:noFill/>
                    </a:lnR>
                    <a:lnT w="0">
                      <a:noFill/>
                    </a:lnT>
                    <a:lnB w="9525" cap="flat" cmpd="sng" algn="ctr">
                      <a:solidFill>
                        <a:srgbClr val="C9CBC4"/>
                      </a:solidFill>
                      <a:prstDash val="solid"/>
                    </a:lnB>
                  </a:tcPr>
                </a:tc>
              </a:tr>
              <a:tr h="535022">
                <a:tc>
                  <a:txBody>
                    <a:bodyPr wrap="square"/>
                    <a:lstStyle/>
                    <a:p>
                      <a:r>
                        <a:rPr sz="1250" b="1">
                          <a:solidFill>
                            <a:srgbClr val="141514"/>
                          </a:solidFill>
                          <a:latin typeface="Arial"/>
                        </a:rPr>
                        <a:t>Cost per application</a:t>
                      </a:r>
                    </a:p>
                  </a:txBody>
                  <a:tcPr marL="0" marR="91440" marT="45720" marB="45720" anchor="t">
                    <a:noFill/>
                    <a:lnL w="0">
                      <a:noFill/>
                    </a:lnL>
                    <a:lnR w="0">
                      <a:noFill/>
                    </a:lnR>
                    <a:lnT w="0">
                      <a:noFill/>
                    </a:lnT>
                    <a:lnB w="0">
                      <a:noFill/>
                    </a:lnB>
                  </a:tcPr>
                </a:tc>
                <a:tc>
                  <a:txBody>
                    <a:bodyPr wrap="square"/>
                    <a:lstStyle/>
                    <a:p>
                      <a:r>
                        <a:rPr sz="1050" b="0">
                          <a:solidFill>
                            <a:srgbClr val="565952"/>
                          </a:solidFill>
                          <a:latin typeface="Arial"/>
                        </a:rPr>
                        <a:t>Model calls</a:t>
                      </a:r>
                    </a:p>
                  </a:txBody>
                  <a:tcPr marL="0" marR="91440" marT="45720" marB="45720" anchor="t">
                    <a:noFill/>
                    <a:lnL w="0">
                      <a:noFill/>
                    </a:lnL>
                    <a:lnR w="0">
                      <a:noFill/>
                    </a:lnR>
                    <a:lnT w="0">
                      <a:noFill/>
                    </a:lnT>
                    <a:lnB w="0">
                      <a:noFill/>
                    </a:lnB>
                  </a:tcPr>
                </a:tc>
                <a:tc>
                  <a:txBody>
                    <a:bodyPr wrap="square"/>
                    <a:lstStyle/>
                    <a:p>
                      <a:r>
                        <a:rPr sz="1500" b="1">
                          <a:solidFill>
                            <a:srgbClr val="1C46C9"/>
                          </a:solidFill>
                          <a:latin typeface="Arial"/>
                        </a:rPr>
                        <a:t>≈ 3¢</a:t>
                      </a:r>
                    </a:p>
                    <a:p>
                      <a:pPr>
                        <a:spcBef>
                          <a:spcPts val="200"/>
                        </a:spcBef>
                      </a:pPr>
                      <a:r>
                        <a:rPr sz="1050" b="0">
                          <a:solidFill>
                            <a:srgbClr val="565952"/>
                          </a:solidFill>
                          <a:latin typeface="Arial"/>
                        </a:rPr>
                        <a:t>estimate</a:t>
                      </a:r>
                    </a:p>
                  </a:txBody>
                  <a:tcPr marL="0" marR="91440" marT="45720" marB="45720" anchor="t">
                    <a:noFill/>
                    <a:lnL w="0">
                      <a:noFill/>
                    </a:lnL>
                    <a:lnR w="0">
                      <a:noFill/>
                    </a:lnR>
                    <a:lnT w="0">
                      <a:noFill/>
                    </a:lnT>
                    <a:lnB w="0">
                      <a:noFill/>
                    </a:lnB>
                  </a:tcPr>
                </a:tc>
                <a:tc>
                  <a:txBody>
                    <a:bodyPr wrap="square"/>
                    <a:lstStyle/>
                    <a:p>
                      <a:r>
                        <a:rPr sz="1250" b="0">
                          <a:solidFill>
                            <a:srgbClr val="565952"/>
                          </a:solidFill>
                          <a:latin typeface="Arial"/>
                        </a:rPr>
                        <a:t>Not measured</a:t>
                      </a:r>
                    </a:p>
                  </a:txBody>
                  <a:tcPr marL="0" marR="91440" marT="45720" marB="45720" anchor="t">
                    <a:noFill/>
                    <a:lnL w="0">
                      <a:noFill/>
                    </a:lnL>
                    <a:lnR w="0">
                      <a:noFill/>
                    </a:lnR>
                    <a:lnT w="0">
                      <a:noFill/>
                    </a:lnT>
                    <a:lnB w="0">
                      <a:noFill/>
                    </a:lnB>
                  </a:tcPr>
                </a:tc>
              </a:tr>
            </a:tbl>
          </a:graphicData>
        </a:graphic>
      </p:graphicFrame>
      <p:sp>
        <p:nvSpPr>
          <p:cNvPr id="7"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Every outcome right, no invalid answers, and the agent never lends to a fraud file.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Why agents over people: the borrower waits about a minute instead of 1 to 7 business days, and the officer reviews instead of assembles</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5</a:t>
            </a:r>
          </a:p>
        </p:txBody>
      </p:sp>
      <p:sp>
        <p:nvSpPr>
          <p:cNvPr id="6" name="Rectangle 5"/>
          <p:cNvSpPr/>
          <p:nvPr/>
        </p:nvSpPr>
        <p:spPr>
          <a:xfrm>
            <a:off x="612648" y="1633728"/>
            <a:ext cx="2514600" cy="1573784"/>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704802"/>
            <a:ext cx="2286000" cy="685800"/>
          </a:xfrm>
          <a:prstGeom prst="rect">
            <a:avLst/>
          </a:prstGeom>
          <a:noFill/>
        </p:spPr>
        <p:txBody>
          <a:bodyPr wrap="square" lIns="0" rIns="0" tIns="0" bIns="0" anchor="t">
            <a:spAutoFit/>
          </a:bodyPr>
          <a:lstStyle/>
          <a:p>
            <a:pPr algn="l">
              <a:lnSpc>
                <a:spcPct val="115000"/>
              </a:lnSpc>
            </a:pPr>
            <a:r>
              <a:rPr sz="3600" b="1">
                <a:solidFill>
                  <a:srgbClr val="141514"/>
                </a:solidFill>
                <a:latin typeface="Courier New"/>
              </a:rPr>
              <a:t>1–7</a:t>
            </a:r>
            <a:r>
              <a:rPr sz="1250" b="0">
                <a:solidFill>
                  <a:srgbClr val="565952"/>
                </a:solidFill>
                <a:latin typeface="Arial"/>
              </a:rPr>
              <a:t>  days</a:t>
            </a:r>
          </a:p>
        </p:txBody>
      </p:sp>
      <p:sp>
        <p:nvSpPr>
          <p:cNvPr id="8" name="TextBox 7"/>
          <p:cNvSpPr txBox="1"/>
          <p:nvPr/>
        </p:nvSpPr>
        <p:spPr>
          <a:xfrm>
            <a:off x="795528" y="2517077"/>
            <a:ext cx="2194560" cy="548640"/>
          </a:xfrm>
          <a:prstGeom prst="rect">
            <a:avLst/>
          </a:prstGeom>
          <a:noFill/>
        </p:spPr>
        <p:txBody>
          <a:bodyPr wrap="square" lIns="0" rIns="0" tIns="0" bIns="0" anchor="t">
            <a:spAutoFit/>
          </a:bodyPr>
          <a:lstStyle/>
          <a:p>
            <a:pPr algn="l">
              <a:lnSpc>
                <a:spcPct val="115000"/>
              </a:lnSpc>
            </a:pPr>
            <a:r>
              <a:rPr sz="1250" b="1">
                <a:solidFill>
                  <a:srgbClr val="141514"/>
                </a:solidFill>
                <a:latin typeface="Arial"/>
              </a:rPr>
              <a:t>A bank or credit union decides</a:t>
            </a:r>
          </a:p>
        </p:txBody>
      </p:sp>
      <p:sp>
        <p:nvSpPr>
          <p:cNvPr id="9" name="Rectangle 8"/>
          <p:cNvSpPr/>
          <p:nvPr/>
        </p:nvSpPr>
        <p:spPr>
          <a:xfrm>
            <a:off x="3310128" y="1633728"/>
            <a:ext cx="2514600" cy="157378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93008" y="1704802"/>
            <a:ext cx="2286000" cy="685800"/>
          </a:xfrm>
          <a:prstGeom prst="rect">
            <a:avLst/>
          </a:prstGeom>
          <a:noFill/>
        </p:spPr>
        <p:txBody>
          <a:bodyPr wrap="square" lIns="0" rIns="0" tIns="0" bIns="0" anchor="t">
            <a:spAutoFit/>
          </a:bodyPr>
          <a:lstStyle/>
          <a:p>
            <a:pPr algn="l">
              <a:lnSpc>
                <a:spcPct val="115000"/>
              </a:lnSpc>
            </a:pPr>
            <a:r>
              <a:rPr sz="3600" b="1">
                <a:solidFill>
                  <a:srgbClr val="1C46C9"/>
                </a:solidFill>
                <a:latin typeface="Courier New"/>
              </a:rPr>
              <a:t>62</a:t>
            </a:r>
            <a:r>
              <a:rPr sz="1250" b="0">
                <a:solidFill>
                  <a:srgbClr val="565952"/>
                </a:solidFill>
                <a:latin typeface="Arial"/>
              </a:rPr>
              <a:t>  seconds</a:t>
            </a:r>
          </a:p>
        </p:txBody>
      </p:sp>
      <p:sp>
        <p:nvSpPr>
          <p:cNvPr id="11" name="TextBox 10"/>
          <p:cNvSpPr txBox="1"/>
          <p:nvPr/>
        </p:nvSpPr>
        <p:spPr>
          <a:xfrm>
            <a:off x="3493008" y="2517077"/>
            <a:ext cx="2194560" cy="548640"/>
          </a:xfrm>
          <a:prstGeom prst="rect">
            <a:avLst/>
          </a:prstGeom>
          <a:noFill/>
        </p:spPr>
        <p:txBody>
          <a:bodyPr wrap="square" lIns="0" rIns="0" tIns="0" bIns="0" anchor="t">
            <a:spAutoFit/>
          </a:bodyPr>
          <a:lstStyle/>
          <a:p>
            <a:pPr algn="l">
              <a:lnSpc>
                <a:spcPct val="115000"/>
              </a:lnSpc>
            </a:pPr>
            <a:r>
              <a:rPr sz="1250" b="1">
                <a:solidFill>
                  <a:srgbClr val="141514"/>
                </a:solidFill>
                <a:latin typeface="Arial"/>
              </a:rPr>
              <a:t>Docket puts a decided file in front of the officer</a:t>
            </a:r>
          </a:p>
        </p:txBody>
      </p:sp>
      <p:sp>
        <p:nvSpPr>
          <p:cNvPr id="12" name="Rectangle 11"/>
          <p:cNvSpPr/>
          <p:nvPr/>
        </p:nvSpPr>
        <p:spPr>
          <a:xfrm>
            <a:off x="6007608" y="1633728"/>
            <a:ext cx="2514600" cy="1573784"/>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90488" y="1704802"/>
            <a:ext cx="2286000" cy="685800"/>
          </a:xfrm>
          <a:prstGeom prst="rect">
            <a:avLst/>
          </a:prstGeom>
          <a:noFill/>
        </p:spPr>
        <p:txBody>
          <a:bodyPr wrap="square" lIns="0" rIns="0" tIns="0" bIns="0" anchor="t">
            <a:spAutoFit/>
          </a:bodyPr>
          <a:lstStyle/>
          <a:p>
            <a:pPr algn="l">
              <a:lnSpc>
                <a:spcPct val="115000"/>
              </a:lnSpc>
            </a:pPr>
            <a:r>
              <a:rPr sz="3600" b="1">
                <a:solidFill>
                  <a:srgbClr val="1C46C9"/>
                </a:solidFill>
                <a:latin typeface="Courier New"/>
              </a:rPr>
              <a:t>5</a:t>
            </a:r>
            <a:r>
              <a:rPr sz="1250" b="0">
                <a:solidFill>
                  <a:srgbClr val="565952"/>
                </a:solidFill>
                <a:latin typeface="Arial"/>
              </a:rPr>
              <a:t>  seconds</a:t>
            </a:r>
          </a:p>
        </p:txBody>
      </p:sp>
      <p:sp>
        <p:nvSpPr>
          <p:cNvPr id="14" name="TextBox 13"/>
          <p:cNvSpPr txBox="1"/>
          <p:nvPr/>
        </p:nvSpPr>
        <p:spPr>
          <a:xfrm>
            <a:off x="6190488" y="2517077"/>
            <a:ext cx="2194560" cy="548640"/>
          </a:xfrm>
          <a:prstGeom prst="rect">
            <a:avLst/>
          </a:prstGeom>
          <a:noFill/>
        </p:spPr>
        <p:txBody>
          <a:bodyPr wrap="square" lIns="0" rIns="0" tIns="0" bIns="0" anchor="t">
            <a:spAutoFit/>
          </a:bodyPr>
          <a:lstStyle/>
          <a:p>
            <a:pPr algn="l">
              <a:lnSpc>
                <a:spcPct val="115000"/>
              </a:lnSpc>
            </a:pPr>
            <a:r>
              <a:rPr sz="1250" b="1">
                <a:solidFill>
                  <a:srgbClr val="141514"/>
                </a:solidFill>
                <a:latin typeface="Arial"/>
              </a:rPr>
              <a:t>Docket stops a fraud or deceased file</a:t>
            </a:r>
          </a:p>
        </p:txBody>
      </p:sp>
      <p:sp>
        <p:nvSpPr>
          <p:cNvPr id="15" name="TextBox 14"/>
          <p:cNvSpPr txBox="1"/>
          <p:nvPr/>
        </p:nvSpPr>
        <p:spPr>
          <a:xfrm>
            <a:off x="612648" y="3461348"/>
            <a:ext cx="786384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WHERE THE 62 SECONDS GO</a:t>
            </a:r>
          </a:p>
        </p:txBody>
      </p:sp>
      <p:graphicFrame>
        <p:nvGraphicFramePr>
          <p:cNvPr id="16" name="Chart 15"/>
          <p:cNvGraphicFramePr>
            <a:graphicFrameLocks noGrp="1"/>
          </p:cNvGraphicFramePr>
          <p:nvPr/>
        </p:nvGraphicFramePr>
        <p:xfrm>
          <a:off x="521208" y="3664417"/>
          <a:ext cx="8138160" cy="1624551"/>
        </p:xfrm>
        <a:graphic>
          <a:graphicData uri="http://schemas.openxmlformats.org/drawingml/2006/chart">
            <c:chart xmlns:c="http://schemas.openxmlformats.org/drawingml/2006/chart" r:id="rId3"/>
          </a:graphicData>
        </a:graphic>
      </p:graphicFrame>
      <p:sp>
        <p:nvSpPr>
          <p:cNvPr id="17" name="TextBox 16"/>
          <p:cNvSpPr txBox="1"/>
          <p:nvPr/>
        </p:nvSpPr>
        <p:spPr>
          <a:xfrm>
            <a:off x="612648" y="5441269"/>
            <a:ext cx="7863840" cy="822960"/>
          </a:xfrm>
          <a:prstGeom prst="rect">
            <a:avLst/>
          </a:prstGeom>
          <a:noFill/>
        </p:spPr>
        <p:txBody>
          <a:bodyPr wrap="square" lIns="0" rIns="0" tIns="0" bIns="0" anchor="t">
            <a:spAutoFit/>
          </a:bodyPr>
          <a:lstStyle/>
          <a:p>
            <a:pPr algn="l">
              <a:lnSpc>
                <a:spcPct val="125000"/>
              </a:lnSpc>
            </a:pPr>
            <a:r>
              <a:rPr sz="1350" b="1">
                <a:solidFill>
                  <a:srgbClr val="141514"/>
                </a:solidFill>
                <a:latin typeface="Arial"/>
              </a:rPr>
              <a:t>Most of the minute is the AI lenders and the letter.</a:t>
            </a:r>
          </a:p>
          <a:p>
            <a:pPr algn="l">
              <a:lnSpc>
                <a:spcPct val="125000"/>
              </a:lnSpc>
            </a:pPr>
            <a:r>
              <a:rPr sz="1050" b="0">
                <a:solidFill>
                  <a:srgbClr val="565952"/>
                </a:solidFill>
                <a:latin typeface="Arial"/>
              </a:rPr>
              <a:t>Called directly, a Claude lender answers in 2.7 s. Twenty applications at once finished in 2.5 minutes.</a:t>
            </a:r>
          </a:p>
        </p:txBody>
      </p:sp>
      <p:sp>
        <p:nvSpPr>
          <p:cNvPr id="18" name="Rectangle 17"/>
          <p:cNvSpPr/>
          <p:nvPr/>
        </p:nvSpPr>
        <p:spPr>
          <a:xfrm>
            <a:off x="8842248" y="1633728"/>
            <a:ext cx="2736799" cy="4721352"/>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5128" y="1765722"/>
            <a:ext cx="237103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WHAT THE PERSON STILL DOES</a:t>
            </a:r>
          </a:p>
        </p:txBody>
      </p:sp>
      <p:sp>
        <p:nvSpPr>
          <p:cNvPr id="20" name="TextBox 19"/>
          <p:cNvSpPr txBox="1"/>
          <p:nvPr/>
        </p:nvSpPr>
        <p:spPr>
          <a:xfrm>
            <a:off x="9025128" y="2141400"/>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Signs every offer and notice</a:t>
            </a:r>
          </a:p>
        </p:txBody>
      </p:sp>
      <p:sp>
        <p:nvSpPr>
          <p:cNvPr id="21" name="TextBox 20"/>
          <p:cNvSpPr txBox="1"/>
          <p:nvPr/>
        </p:nvSpPr>
        <p:spPr>
          <a:xfrm>
            <a:off x="9025128" y="2415720"/>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Nothing funds without a signature</a:t>
            </a:r>
          </a:p>
        </p:txBody>
      </p:sp>
      <p:sp>
        <p:nvSpPr>
          <p:cNvPr id="22" name="TextBox 21"/>
          <p:cNvSpPr txBox="1"/>
          <p:nvPr/>
        </p:nvSpPr>
        <p:spPr>
          <a:xfrm>
            <a:off x="9025128" y="3105977"/>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Handles the exceptions</a:t>
            </a:r>
          </a:p>
        </p:txBody>
      </p:sp>
      <p:sp>
        <p:nvSpPr>
          <p:cNvPr id="23" name="TextBox 22"/>
          <p:cNvSpPr txBox="1"/>
          <p:nvPr/>
        </p:nvSpPr>
        <p:spPr>
          <a:xfrm>
            <a:off x="9025128" y="3380297"/>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Whatever the policy sends back</a:t>
            </a:r>
          </a:p>
        </p:txBody>
      </p:sp>
      <p:sp>
        <p:nvSpPr>
          <p:cNvPr id="24" name="TextBox 23"/>
          <p:cNvSpPr txBox="1"/>
          <p:nvPr/>
        </p:nvSpPr>
        <p:spPr>
          <a:xfrm>
            <a:off x="9025128" y="4070554"/>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Owns the override</a:t>
            </a:r>
          </a:p>
        </p:txBody>
      </p:sp>
      <p:sp>
        <p:nvSpPr>
          <p:cNvPr id="25" name="TextBox 24"/>
          <p:cNvSpPr txBox="1"/>
          <p:nvPr/>
        </p:nvSpPr>
        <p:spPr>
          <a:xfrm>
            <a:off x="9025128" y="4344874"/>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Refused and logged on a hard stop</a:t>
            </a:r>
          </a:p>
        </p:txBody>
      </p:sp>
      <p:sp>
        <p:nvSpPr>
          <p:cNvPr id="26" name="TextBox 25"/>
          <p:cNvSpPr txBox="1"/>
          <p:nvPr/>
        </p:nvSpPr>
        <p:spPr>
          <a:xfrm>
            <a:off x="9025128" y="5035132"/>
            <a:ext cx="2371039"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Reviews, doesn't assemble</a:t>
            </a:r>
          </a:p>
        </p:txBody>
      </p:sp>
      <p:sp>
        <p:nvSpPr>
          <p:cNvPr id="27" name="TextBox 26"/>
          <p:cNvSpPr txBox="1"/>
          <p:nvPr/>
        </p:nvSpPr>
        <p:spPr>
          <a:xfrm>
            <a:off x="9025128" y="5309452"/>
            <a:ext cx="237103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The file arrives pulled, checked and priced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Moat: CRS gets us bureau data in days; the tested decisions we build on top of it compound with every file</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8</a:t>
            </a:r>
          </a:p>
        </p:txBody>
      </p:sp>
      <p:sp>
        <p:nvSpPr>
          <p:cNvPr id="6" name="Rectangle 5"/>
          <p:cNvSpPr/>
          <p:nvPr/>
        </p:nvSpPr>
        <p:spPr>
          <a:xfrm>
            <a:off x="612648" y="1633728"/>
            <a:ext cx="4846320" cy="3944112"/>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760329"/>
            <a:ext cx="4846320"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OUR HEAD START: CRS</a:t>
            </a:r>
          </a:p>
        </p:txBody>
      </p:sp>
      <p:sp>
        <p:nvSpPr>
          <p:cNvPr id="8" name="TextBox 7"/>
          <p:cNvSpPr txBox="1"/>
          <p:nvPr/>
        </p:nvSpPr>
        <p:spPr>
          <a:xfrm>
            <a:off x="841248" y="2091439"/>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All three bureaus, one API</a:t>
            </a:r>
          </a:p>
        </p:txBody>
      </p:sp>
      <p:sp>
        <p:nvSpPr>
          <p:cNvPr id="9" name="TextBox 8"/>
          <p:cNvSpPr txBox="1"/>
          <p:nvPr/>
        </p:nvSpPr>
        <p:spPr>
          <a:xfrm>
            <a:off x="841248" y="2365759"/>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Plus identity, fraud and public records</a:t>
            </a:r>
          </a:p>
        </p:txBody>
      </p:sp>
      <p:sp>
        <p:nvSpPr>
          <p:cNvPr id="10" name="TextBox 9"/>
          <p:cNvSpPr txBox="1"/>
          <p:nvPr/>
        </p:nvSpPr>
        <p:spPr>
          <a:xfrm>
            <a:off x="841248" y="2753661"/>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Live in days, not months</a:t>
            </a:r>
          </a:p>
        </p:txBody>
      </p:sp>
      <p:sp>
        <p:nvSpPr>
          <p:cNvPr id="11" name="TextBox 10"/>
          <p:cNvSpPr txBox="1"/>
          <p:nvPr/>
        </p:nvSpPr>
        <p:spPr>
          <a:xfrm>
            <a:off x="841248" y="3027981"/>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CRS handles bureau credentialing</a:t>
            </a:r>
          </a:p>
        </p:txBody>
      </p:sp>
      <p:sp>
        <p:nvSpPr>
          <p:cNvPr id="12" name="TextBox 11"/>
          <p:cNvSpPr txBox="1"/>
          <p:nvPr/>
        </p:nvSpPr>
        <p:spPr>
          <a:xfrm>
            <a:off x="841248" y="3415882"/>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Sandbox matches production</a:t>
            </a:r>
          </a:p>
        </p:txBody>
      </p:sp>
      <p:sp>
        <p:nvSpPr>
          <p:cNvPr id="13" name="TextBox 12"/>
          <p:cNvSpPr txBox="1"/>
          <p:nvPr/>
        </p:nvSpPr>
        <p:spPr>
          <a:xfrm>
            <a:off x="841248" y="3690202"/>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Our 20 test applicants are real response shapes</a:t>
            </a:r>
          </a:p>
        </p:txBody>
      </p:sp>
      <p:sp>
        <p:nvSpPr>
          <p:cNvPr id="14" name="TextBox 13"/>
          <p:cNvSpPr txBox="1"/>
          <p:nvPr/>
        </p:nvSpPr>
        <p:spPr>
          <a:xfrm>
            <a:off x="841248" y="4078103"/>
            <a:ext cx="4389120"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Trusted at scale</a:t>
            </a:r>
          </a:p>
        </p:txBody>
      </p:sp>
      <p:sp>
        <p:nvSpPr>
          <p:cNvPr id="15" name="TextBox 14"/>
          <p:cNvSpPr txBox="1"/>
          <p:nvPr/>
        </p:nvSpPr>
        <p:spPr>
          <a:xfrm>
            <a:off x="841248" y="4352423"/>
            <a:ext cx="4389120" cy="32004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2,000+ companies, 40M+ credit pulls</a:t>
            </a:r>
          </a:p>
        </p:txBody>
      </p:sp>
      <p:sp>
        <p:nvSpPr>
          <p:cNvPr id="16" name="TextBox 15"/>
          <p:cNvSpPr txBox="1"/>
          <p:nvPr/>
        </p:nvSpPr>
        <p:spPr>
          <a:xfrm>
            <a:off x="841248" y="4847448"/>
            <a:ext cx="4389120" cy="548640"/>
          </a:xfrm>
          <a:prstGeom prst="rect">
            <a:avLst/>
          </a:prstGeom>
          <a:noFill/>
        </p:spPr>
        <p:txBody>
          <a:bodyPr wrap="square" lIns="0" rIns="0" tIns="0" bIns="0" anchor="ctr">
            <a:spAutoFit/>
          </a:bodyPr>
          <a:lstStyle/>
          <a:p>
            <a:pPr algn="l">
              <a:lnSpc>
                <a:spcPct val="115000"/>
              </a:lnSpc>
            </a:pPr>
            <a:r>
              <a:rPr sz="1150" b="0">
                <a:solidFill>
                  <a:srgbClr val="565952"/>
                </a:solidFill>
                <a:latin typeface="Arial"/>
              </a:rPr>
              <a:t>Anyone can call CRS. Access is our head start, not our moat.</a:t>
            </a:r>
          </a:p>
        </p:txBody>
      </p:sp>
      <p:sp>
        <p:nvSpPr>
          <p:cNvPr id="17" name="TextBox 16"/>
          <p:cNvSpPr txBox="1"/>
          <p:nvPr/>
        </p:nvSpPr>
        <p:spPr>
          <a:xfrm>
            <a:off x="5824728" y="1633728"/>
            <a:ext cx="5754319"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OUR MOAT: WHAT ONLY DOCKET HAS</a:t>
            </a:r>
          </a:p>
        </p:txBody>
      </p:sp>
      <p:sp>
        <p:nvSpPr>
          <p:cNvPr id="18" name="Rectangle 17"/>
          <p:cNvSpPr/>
          <p:nvPr/>
        </p:nvSpPr>
        <p:spPr>
          <a:xfrm>
            <a:off x="5824728" y="2049967"/>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1</a:t>
            </a:r>
          </a:p>
        </p:txBody>
      </p:sp>
      <p:sp>
        <p:nvSpPr>
          <p:cNvPr id="19" name="TextBox 18"/>
          <p:cNvSpPr txBox="1"/>
          <p:nvPr/>
        </p:nvSpPr>
        <p:spPr>
          <a:xfrm>
            <a:off x="6263640" y="1998340"/>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Written lender policies</a:t>
            </a:r>
          </a:p>
        </p:txBody>
      </p:sp>
      <p:sp>
        <p:nvSpPr>
          <p:cNvPr id="20" name="TextBox 19"/>
          <p:cNvSpPr txBox="1"/>
          <p:nvPr/>
        </p:nvSpPr>
        <p:spPr>
          <a:xfrm>
            <a:off x="6263640" y="2290947"/>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Five policies as prompts, each with a code mirror for testing</a:t>
            </a:r>
          </a:p>
        </p:txBody>
      </p:sp>
      <p:sp>
        <p:nvSpPr>
          <p:cNvPr id="21" name="Rectangle 20"/>
          <p:cNvSpPr/>
          <p:nvPr/>
        </p:nvSpPr>
        <p:spPr>
          <a:xfrm>
            <a:off x="5824728" y="3008377"/>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2</a:t>
            </a:r>
          </a:p>
        </p:txBody>
      </p:sp>
      <p:sp>
        <p:nvSpPr>
          <p:cNvPr id="22" name="TextBox 21"/>
          <p:cNvSpPr txBox="1"/>
          <p:nvPr/>
        </p:nvSpPr>
        <p:spPr>
          <a:xfrm>
            <a:off x="6263640" y="2956750"/>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Reasons tested on real bureau fields</a:t>
            </a:r>
          </a:p>
        </p:txBody>
      </p:sp>
      <p:sp>
        <p:nvSpPr>
          <p:cNvPr id="23" name="TextBox 22"/>
          <p:cNvSpPr txBox="1"/>
          <p:nvPr/>
        </p:nvSpPr>
        <p:spPr>
          <a:xfrm>
            <a:off x="6263640" y="3249357"/>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Padding never reaches a letter</a:t>
            </a:r>
          </a:p>
        </p:txBody>
      </p:sp>
      <p:sp>
        <p:nvSpPr>
          <p:cNvPr id="24" name="Rectangle 23"/>
          <p:cNvSpPr/>
          <p:nvPr/>
        </p:nvSpPr>
        <p:spPr>
          <a:xfrm>
            <a:off x="5824728" y="3966789"/>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3</a:t>
            </a:r>
          </a:p>
        </p:txBody>
      </p:sp>
      <p:sp>
        <p:nvSpPr>
          <p:cNvPr id="25" name="TextBox 24"/>
          <p:cNvSpPr txBox="1"/>
          <p:nvPr/>
        </p:nvSpPr>
        <p:spPr>
          <a:xfrm>
            <a:off x="6263640" y="3915159"/>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An answer key scored every night</a:t>
            </a:r>
          </a:p>
        </p:txBody>
      </p:sp>
      <p:sp>
        <p:nvSpPr>
          <p:cNvPr id="26" name="TextBox 25"/>
          <p:cNvSpPr txBox="1"/>
          <p:nvPr/>
        </p:nvSpPr>
        <p:spPr>
          <a:xfrm>
            <a:off x="6263640" y="4207768"/>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20 applicants × 5 lenders</a:t>
            </a:r>
          </a:p>
        </p:txBody>
      </p:sp>
      <p:sp>
        <p:nvSpPr>
          <p:cNvPr id="27" name="Rectangle 26"/>
          <p:cNvSpPr/>
          <p:nvPr/>
        </p:nvSpPr>
        <p:spPr>
          <a:xfrm>
            <a:off x="5824728" y="4925199"/>
            <a:ext cx="292608" cy="292608"/>
          </a:xfrm>
          <a:prstGeom prst="rect">
            <a:avLst/>
          </a:prstGeom>
          <a:noFill/>
          <a:ln w="9525">
            <a:solidFill>
              <a:srgbClr val="141514"/>
            </a:solidFill>
          </a:ln>
          <a:effectLst/>
        </p:spPr>
        <p:style>
          <a:lnRef idx="1">
            <a:schemeClr val="accent1"/>
          </a:lnRef>
          <a:fillRef idx="3">
            <a:schemeClr val="accent1"/>
          </a:fillRef>
          <a:effectRef idx="2">
            <a:schemeClr val="accent1"/>
          </a:effectRef>
          <a:fontRef idx="minor">
            <a:schemeClr val="lt1"/>
          </a:fontRef>
        </p:style>
        <p:txBody>
          <a:bodyPr rtlCol="0" anchor="ctr" lIns="73152" rIns="73152" tIns="0" bIns="0"/>
          <a:lstStyle/>
          <a:p>
            <a:pPr algn="ctr"/>
            <a:r>
              <a:rPr sz="1000" b="0">
                <a:solidFill>
                  <a:srgbClr val="141514"/>
                </a:solidFill>
                <a:latin typeface="Courier New"/>
              </a:rPr>
              <a:t>4</a:t>
            </a:r>
          </a:p>
        </p:txBody>
      </p:sp>
      <p:sp>
        <p:nvSpPr>
          <p:cNvPr id="28" name="TextBox 27"/>
          <p:cNvSpPr txBox="1"/>
          <p:nvPr/>
        </p:nvSpPr>
        <p:spPr>
          <a:xfrm>
            <a:off x="6263640" y="4873571"/>
            <a:ext cx="5315407" cy="274320"/>
          </a:xfrm>
          <a:prstGeom prst="rect">
            <a:avLst/>
          </a:prstGeom>
          <a:noFill/>
        </p:spPr>
        <p:txBody>
          <a:bodyPr wrap="square" lIns="0" rIns="0" tIns="0" bIns="0" anchor="t">
            <a:spAutoFit/>
          </a:bodyPr>
          <a:lstStyle/>
          <a:p>
            <a:pPr algn="l">
              <a:lnSpc>
                <a:spcPct val="115000"/>
              </a:lnSpc>
            </a:pPr>
            <a:r>
              <a:rPr sz="1300" b="1">
                <a:solidFill>
                  <a:srgbClr val="141514"/>
                </a:solidFill>
                <a:latin typeface="Arial"/>
              </a:rPr>
              <a:t>A decision record that compounds</a:t>
            </a:r>
          </a:p>
        </p:txBody>
      </p:sp>
      <p:sp>
        <p:nvSpPr>
          <p:cNvPr id="29" name="TextBox 28"/>
          <p:cNvSpPr txBox="1"/>
          <p:nvPr/>
        </p:nvSpPr>
        <p:spPr>
          <a:xfrm>
            <a:off x="6263640" y="5166179"/>
            <a:ext cx="5315407"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Every credit union that joins adds labeled decisions nobody else has</a:t>
            </a:r>
          </a:p>
        </p:txBody>
      </p:sp>
      <p:sp>
        <p:nvSpPr>
          <p:cNvPr id="30"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Anyone can pull a credit file. Only we have tested decisions on top of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Backup: every Docket number comes from our own logged runs, and every human number from a published study</a:t>
            </a:r>
          </a:p>
        </p:txBody>
      </p:sp>
      <p:sp>
        <p:nvSpPr>
          <p:cNvPr id="5" name="Source"/>
          <p:cNvSpPr txBox="1"/>
          <p:nvPr/>
        </p:nvSpPr>
        <p:spPr>
          <a:xfrm>
            <a:off x="612648" y="6291072"/>
            <a:ext cx="10051999" cy="411480"/>
          </a:xfrm>
          <a:prstGeom prst="rect">
            <a:avLst/>
          </a:prstGeom>
          <a:noFill/>
        </p:spPr>
        <p:txBody>
          <a:bodyPr wrap="square" lIns="0" rIns="0" tIns="0" bIns="0" anchor="b">
            <a:spAutoFit/>
          </a:bodyPr>
          <a:lstStyle/>
          <a:p>
            <a:pPr algn="l">
              <a:lnSpc>
                <a:spcPct val="115000"/>
              </a:lnSpc>
            </a:pPr>
            <a:r>
              <a:rPr sz="800" b="0">
                <a:solidFill>
                  <a:srgbClr val="565952"/>
                </a:solidFill>
                <a:latin typeface="Courier New"/>
              </a:rPr>
              <a:t>Raw numbers and how each was derived: design/deck/pitch/benchmarks.md in the repo. List prices from Anthropic's model table (claude-haiku-5-5 $0.10 / $0.50, claude-sonnet-5-5 $2 / $10 per million tokens).</a:t>
            </a:r>
          </a:p>
        </p:txBody>
      </p:sp>
      <p:sp>
        <p:nvSpPr>
          <p:cNvPr id="6"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13</a:t>
            </a:r>
          </a:p>
        </p:txBody>
      </p:sp>
      <p:graphicFrame>
        <p:nvGraphicFramePr>
          <p:cNvPr id="7" name="Table 6"/>
          <p:cNvGraphicFramePr>
            <a:graphicFrameLocks noGrp="1"/>
          </p:cNvGraphicFramePr>
          <p:nvPr/>
        </p:nvGraphicFramePr>
        <p:xfrm>
          <a:off x="612648" y="1633728"/>
          <a:ext cx="10972800" cy="4684771"/>
        </p:xfrm>
        <a:graphic>
          <a:graphicData uri="http://schemas.openxmlformats.org/drawingml/2006/table">
            <a:tbl>
              <a:tblPr firstRow="0" bandRow="0">
                <a:tableStyleId>{2D5ABB26-0587-4C30-8999-92F81FD0307C}</a:tableStyleId>
              </a:tblPr>
              <a:tblGrid>
                <a:gridCol w="2468880"/>
                <a:gridCol w="5852160"/>
                <a:gridCol w="2651760"/>
              </a:tblGrid>
              <a:tr h="420085">
                <a:tc>
                  <a:txBody>
                    <a:bodyPr wrap="square"/>
                    <a:lstStyle/>
                    <a:p>
                      <a:r>
                        <a:rPr sz="1000" b="0">
                          <a:solidFill>
                            <a:srgbClr val="565952"/>
                          </a:solidFill>
                          <a:latin typeface="Courier New"/>
                        </a:rPr>
                        <a:t>NUMBER</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1000" b="0">
                          <a:solidFill>
                            <a:srgbClr val="565952"/>
                          </a:solidFill>
                          <a:latin typeface="Courier New"/>
                        </a:rPr>
                        <a:t>HOW WE GOT IT</a:t>
                      </a:r>
                    </a:p>
                  </a:txBody>
                  <a:tcPr marL="0" marR="91440" marT="0" marB="45720" anchor="b">
                    <a:noFill/>
                    <a:lnL w="0">
                      <a:noFill/>
                    </a:lnL>
                    <a:lnR w="0">
                      <a:noFill/>
                    </a:lnR>
                    <a:lnT w="0">
                      <a:noFill/>
                    </a:lnT>
                    <a:lnB w="15875" cap="flat" cmpd="sng" algn="ctr">
                      <a:solidFill>
                        <a:srgbClr val="141514"/>
                      </a:solidFill>
                      <a:prstDash val="solid"/>
                    </a:lnB>
                  </a:tcPr>
                </a:tc>
                <a:tc>
                  <a:txBody>
                    <a:bodyPr wrap="square"/>
                    <a:lstStyle/>
                    <a:p>
                      <a:r>
                        <a:rPr sz="1000" b="0">
                          <a:solidFill>
                            <a:srgbClr val="565952"/>
                          </a:solidFill>
                          <a:latin typeface="Courier New"/>
                        </a:rPr>
                        <a:t>CAVEAT</a:t>
                      </a:r>
                    </a:p>
                  </a:txBody>
                  <a:tcPr marL="0" marR="91440" marT="0" marB="45720" anchor="b">
                    <a:noFill/>
                    <a:lnL w="0">
                      <a:noFill/>
                    </a:lnL>
                    <a:lnR w="0">
                      <a:noFill/>
                    </a:lnR>
                    <a:lnT w="0">
                      <a:noFill/>
                    </a:lnT>
                    <a:lnB w="15875" cap="flat" cmpd="sng" algn="ctr">
                      <a:solidFill>
                        <a:srgbClr val="141514"/>
                      </a:solidFill>
                      <a:prstDash val="solid"/>
                    </a:lnB>
                  </a:tcPr>
                </a:tc>
              </a:tr>
              <a:tr h="710781">
                <a:tc>
                  <a:txBody>
                    <a:bodyPr wrap="square"/>
                    <a:lstStyle/>
                    <a:p>
                      <a:r>
                        <a:rPr sz="1450" b="1">
                          <a:solidFill>
                            <a:srgbClr val="141514"/>
                          </a:solidFill>
                          <a:latin typeface="Arial"/>
                        </a:rPr>
                        <a:t>20/20, 96/100, 85/85, 82%</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Cloud eval Oct 24 21:26: 20 personas, five CREAO lenders with Claude fallback, scored against the five-lender key</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All 20 ran at once, so its timings are slow</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62 s, 20 s per lender</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One live application on the cloud desk after the CREAO fix, Oct 24 20:58</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A single run</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20/20, 60/60, 84%, 2.7 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Cloud eval Oct 24 09:31: 20 personas, three Claude Haiku 5.5 lenders, scored against personas/map.json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The answer key is ours</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Same answer 3 times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P05 and P08 each run three times on the cloud desk; every lender's decision and APR identical</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Small sample</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 3¢ per application</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≈2K input tokens per lender call, ~15 calls with reason tests, plus one Sonnet 5.5 notice, at list prices</a:t>
                      </a:r>
                    </a:p>
                  </a:txBody>
                  <a:tcPr marL="0" marR="91440" marT="45720" marB="45720" anchor="t">
                    <a:noFill/>
                    <a:lnL w="0">
                      <a:noFill/>
                    </a:lnL>
                    <a:lnR w="0">
                      <a:noFill/>
                    </a:lnR>
                    <a:lnT w="0">
                      <a:noFill/>
                    </a:lnT>
                    <a:lnB w="9525" cap="flat" cmpd="sng" algn="ctr">
                      <a:solidFill>
                        <a:srgbClr val="C9CBC4"/>
                      </a:solidFill>
                      <a:prstDash val="solid"/>
                    </a:lnB>
                  </a:tcPr>
                </a:tc>
                <a:tc>
                  <a:txBody>
                    <a:bodyPr wrap="square"/>
                    <a:lstStyle/>
                    <a:p>
                      <a:r>
                        <a:rPr sz="1450" b="0">
                          <a:solidFill>
                            <a:srgbClr val="141514"/>
                          </a:solidFill>
                          <a:latin typeface="Arial"/>
                        </a:rPr>
                        <a:t>Estimate; 8¢ if every call hits its output cap</a:t>
                      </a:r>
                    </a:p>
                  </a:txBody>
                  <a:tcPr marL="0" marR="91440" marT="45720" marB="45720" anchor="t">
                    <a:noFill/>
                    <a:lnL w="0">
                      <a:noFill/>
                    </a:lnL>
                    <a:lnR w="0">
                      <a:noFill/>
                    </a:lnR>
                    <a:lnT w="0">
                      <a:noFill/>
                    </a:lnT>
                    <a:lnB w="9525" cap="flat" cmpd="sng" algn="ctr">
                      <a:solidFill>
                        <a:srgbClr val="C9CBC4"/>
                      </a:solidFill>
                      <a:prstDash val="solid"/>
                    </a:lnB>
                  </a:tcPr>
                </a:tc>
              </a:tr>
              <a:tr h="710781">
                <a:tc>
                  <a:txBody>
                    <a:bodyPr wrap="square"/>
                    <a:lstStyle/>
                    <a:p>
                      <a:r>
                        <a:rPr sz="1450" b="1">
                          <a:solidFill>
                            <a:srgbClr val="141514"/>
                          </a:solidFill>
                          <a:latin typeface="Arial"/>
                        </a:rPr>
                        <a:t>Human figures</a:t>
                      </a:r>
                    </a:p>
                  </a:txBody>
                  <a:tcPr marL="0" marR="91440" marT="45720" marB="45720" anchor="t">
                    <a:noFill/>
                    <a:lnL w="0">
                      <a:noFill/>
                    </a:lnL>
                    <a:lnR w="0">
                      <a:noFill/>
                    </a:lnR>
                    <a:lnT w="0">
                      <a:noFill/>
                    </a:lnT>
                    <a:lnB w="0">
                      <a:noFill/>
                    </a:lnB>
                  </a:tcPr>
                </a:tc>
                <a:tc>
                  <a:txBody>
                    <a:bodyPr wrap="square"/>
                    <a:lstStyle/>
                    <a:p>
                      <a:r>
                        <a:rPr sz="1450" b="0">
                          <a:solidFill>
                            <a:srgbClr val="141514"/>
                          </a:solidFill>
                          <a:latin typeface="Arial"/>
                        </a:rPr>
                        <a:t>Bankrate; Noise (2021); Cambridge via ScienceDaily (2021); CFPB Supervisory Highlights, Winter 2020; BLS (May 2025)</a:t>
                      </a:r>
                    </a:p>
                  </a:txBody>
                  <a:tcPr marL="0" marR="91440" marT="45720" marB="45720" anchor="t">
                    <a:noFill/>
                    <a:lnL w="0">
                      <a:noFill/>
                    </a:lnL>
                    <a:lnR w="0">
                      <a:noFill/>
                    </a:lnR>
                    <a:lnT w="0">
                      <a:noFill/>
                    </a:lnT>
                    <a:lnB w="0">
                      <a:noFill/>
                    </a:lnB>
                  </a:tcPr>
                </a:tc>
                <a:tc>
                  <a:txBody>
                    <a:bodyPr wrap="square"/>
                    <a:lstStyle/>
                    <a:p>
                      <a:r>
                        <a:rPr sz="1450" b="0">
                          <a:solidFill>
                            <a:srgbClr val="141514"/>
                          </a:solidFill>
                          <a:latin typeface="Arial"/>
                        </a:rPr>
                        <a:t>Noise studied insurance underwriters, not loan officers</a:t>
                      </a:r>
                    </a:p>
                  </a:txBody>
                  <a:tcPr marL="0" marR="91440" marT="45720" marB="45720" anchor="t">
                    <a:noFill/>
                    <a:lnL w="0">
                      <a:noFill/>
                    </a:lnL>
                    <a:lnR w="0">
                      <a:noFill/>
                    </a:lnR>
                    <a:lnT w="0">
                      <a:noFill/>
                    </a:lnT>
                    <a:lnB w="0">
                      <a:noFill/>
                    </a:lnB>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2834640"/>
            <a:ext cx="457200" cy="45720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98448" y="2697480"/>
            <a:ext cx="8229600" cy="731520"/>
          </a:xfrm>
          <a:prstGeom prst="rect">
            <a:avLst/>
          </a:prstGeom>
          <a:noFill/>
        </p:spPr>
        <p:txBody>
          <a:bodyPr wrap="square" lIns="0" rIns="0" tIns="0" bIns="0" anchor="t">
            <a:spAutoFit/>
          </a:bodyPr>
          <a:lstStyle/>
          <a:p>
            <a:pPr algn="l">
              <a:lnSpc>
                <a:spcPct val="115000"/>
              </a:lnSpc>
            </a:pPr>
            <a:r>
              <a:rPr sz="4000" b="1">
                <a:solidFill>
                  <a:srgbClr val="141514"/>
                </a:solidFill>
                <a:latin typeface="Arial"/>
              </a:rPr>
              <a:t>Backup</a:t>
            </a:r>
          </a:p>
        </p:txBody>
      </p:sp>
      <p:sp>
        <p:nvSpPr>
          <p:cNvPr id="4" name="TextBox 3"/>
          <p:cNvSpPr txBox="1"/>
          <p:nvPr/>
        </p:nvSpPr>
        <p:spPr>
          <a:xfrm>
            <a:off x="1298448" y="3429000"/>
            <a:ext cx="8229600" cy="457200"/>
          </a:xfrm>
          <a:prstGeom prst="rect">
            <a:avLst/>
          </a:prstGeom>
          <a:noFill/>
        </p:spPr>
        <p:txBody>
          <a:bodyPr wrap="square" lIns="0" rIns="0" tIns="0" bIns="0" anchor="t">
            <a:spAutoFit/>
          </a:bodyPr>
          <a:lstStyle/>
          <a:p>
            <a:pPr algn="l">
              <a:lnSpc>
                <a:spcPct val="115000"/>
              </a:lnSpc>
            </a:pPr>
            <a:r>
              <a:rPr sz="1400" b="0">
                <a:solidFill>
                  <a:srgbClr val="565952"/>
                </a:solidFill>
                <a:latin typeface="Arial"/>
              </a:rPr>
              <a:t>Details for questions: the agent scorecard and how every number was measured.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$281 billion in U.S. personal loans, and 1 in 6 people who apply for credit get turned down</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2</a:t>
            </a:r>
          </a:p>
        </p:txBody>
      </p:sp>
      <p:sp>
        <p:nvSpPr>
          <p:cNvPr id="6" name="Rectangle 5"/>
          <p:cNvSpPr/>
          <p:nvPr/>
        </p:nvSpPr>
        <p:spPr>
          <a:xfrm>
            <a:off x="612648" y="1740221"/>
            <a:ext cx="2570149" cy="2472428"/>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1893276"/>
            <a:ext cx="2204389" cy="777240"/>
          </a:xfrm>
          <a:prstGeom prst="rect">
            <a:avLst/>
          </a:prstGeom>
          <a:noFill/>
        </p:spPr>
        <p:txBody>
          <a:bodyPr wrap="square" lIns="0" rIns="0" tIns="0" bIns="0" anchor="t">
            <a:spAutoFit/>
          </a:bodyPr>
          <a:lstStyle/>
          <a:p>
            <a:pPr algn="l">
              <a:lnSpc>
                <a:spcPct val="115000"/>
              </a:lnSpc>
            </a:pPr>
            <a:r>
              <a:rPr sz="4600" b="1">
                <a:solidFill>
                  <a:srgbClr val="1C46C9"/>
                </a:solidFill>
                <a:latin typeface="Courier New"/>
              </a:rPr>
              <a:t>$281B</a:t>
            </a:r>
          </a:p>
        </p:txBody>
      </p:sp>
      <p:sp>
        <p:nvSpPr>
          <p:cNvPr id="8" name="TextBox 7"/>
          <p:cNvSpPr txBox="1"/>
          <p:nvPr/>
        </p:nvSpPr>
        <p:spPr>
          <a:xfrm>
            <a:off x="813816"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Personal loans owed</a:t>
            </a:r>
          </a:p>
        </p:txBody>
      </p:sp>
      <p:sp>
        <p:nvSpPr>
          <p:cNvPr id="9" name="TextBox 8"/>
          <p:cNvSpPr txBox="1"/>
          <p:nvPr/>
        </p:nvSpPr>
        <p:spPr>
          <a:xfrm>
            <a:off x="813816"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A record, up 9.6% in a year</a:t>
            </a:r>
          </a:p>
        </p:txBody>
      </p:sp>
      <p:sp>
        <p:nvSpPr>
          <p:cNvPr id="10" name="Rectangle 9"/>
          <p:cNvSpPr/>
          <p:nvPr/>
        </p:nvSpPr>
        <p:spPr>
          <a:xfrm>
            <a:off x="3411397" y="1740221"/>
            <a:ext cx="2570149" cy="2472428"/>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2565" y="1893276"/>
            <a:ext cx="2204389" cy="777240"/>
          </a:xfrm>
          <a:prstGeom prst="rect">
            <a:avLst/>
          </a:prstGeom>
          <a:noFill/>
        </p:spPr>
        <p:txBody>
          <a:bodyPr wrap="square" lIns="0" rIns="0" tIns="0" bIns="0" anchor="t">
            <a:spAutoFit/>
          </a:bodyPr>
          <a:lstStyle/>
          <a:p>
            <a:pPr algn="l">
              <a:lnSpc>
                <a:spcPct val="115000"/>
              </a:lnSpc>
            </a:pPr>
            <a:r>
              <a:rPr sz="4600" b="1">
                <a:solidFill>
                  <a:srgbClr val="141514"/>
                </a:solidFill>
                <a:latin typeface="Courier New"/>
              </a:rPr>
              <a:t>26.9M</a:t>
            </a:r>
          </a:p>
        </p:txBody>
      </p:sp>
      <p:sp>
        <p:nvSpPr>
          <p:cNvPr id="12" name="TextBox 11"/>
          <p:cNvSpPr txBox="1"/>
          <p:nvPr/>
        </p:nvSpPr>
        <p:spPr>
          <a:xfrm>
            <a:off x="3612565"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Americans carrying one</a:t>
            </a:r>
          </a:p>
        </p:txBody>
      </p:sp>
      <p:sp>
        <p:nvSpPr>
          <p:cNvPr id="13" name="TextBox 12"/>
          <p:cNvSpPr txBox="1"/>
          <p:nvPr/>
        </p:nvSpPr>
        <p:spPr>
          <a:xfrm>
            <a:off x="3612565"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Unsecured personal loans</a:t>
            </a:r>
          </a:p>
        </p:txBody>
      </p:sp>
      <p:sp>
        <p:nvSpPr>
          <p:cNvPr id="14" name="Rectangle 13"/>
          <p:cNvSpPr/>
          <p:nvPr/>
        </p:nvSpPr>
        <p:spPr>
          <a:xfrm>
            <a:off x="6210147" y="1740221"/>
            <a:ext cx="2570149" cy="2472428"/>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1315" y="1893276"/>
            <a:ext cx="2204389" cy="777240"/>
          </a:xfrm>
          <a:prstGeom prst="rect">
            <a:avLst/>
          </a:prstGeom>
          <a:noFill/>
        </p:spPr>
        <p:txBody>
          <a:bodyPr wrap="square" lIns="0" rIns="0" tIns="0" bIns="0" anchor="t">
            <a:spAutoFit/>
          </a:bodyPr>
          <a:lstStyle/>
          <a:p>
            <a:pPr algn="l">
              <a:lnSpc>
                <a:spcPct val="115000"/>
              </a:lnSpc>
            </a:pPr>
            <a:r>
              <a:rPr sz="4600" b="1">
                <a:solidFill>
                  <a:srgbClr val="1C46C9"/>
                </a:solidFill>
                <a:latin typeface="Courier New"/>
              </a:rPr>
              <a:t>1 in 6</a:t>
            </a:r>
          </a:p>
        </p:txBody>
      </p:sp>
      <p:sp>
        <p:nvSpPr>
          <p:cNvPr id="16" name="TextBox 15"/>
          <p:cNvSpPr txBox="1"/>
          <p:nvPr/>
        </p:nvSpPr>
        <p:spPr>
          <a:xfrm>
            <a:off x="6411315"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Applicants turned down</a:t>
            </a:r>
          </a:p>
        </p:txBody>
      </p:sp>
      <p:sp>
        <p:nvSpPr>
          <p:cNvPr id="17" name="TextBox 16"/>
          <p:cNvSpPr txBox="1"/>
          <p:nvPr/>
        </p:nvSpPr>
        <p:spPr>
          <a:xfrm>
            <a:off x="6411315"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16.1% of credit applicants, past year</a:t>
            </a:r>
          </a:p>
        </p:txBody>
      </p:sp>
      <p:sp>
        <p:nvSpPr>
          <p:cNvPr id="18" name="Rectangle 17"/>
          <p:cNvSpPr/>
          <p:nvPr/>
        </p:nvSpPr>
        <p:spPr>
          <a:xfrm>
            <a:off x="9008897" y="1740221"/>
            <a:ext cx="2570149" cy="2472428"/>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10065" y="1893276"/>
            <a:ext cx="2204389" cy="777240"/>
          </a:xfrm>
          <a:prstGeom prst="rect">
            <a:avLst/>
          </a:prstGeom>
          <a:noFill/>
        </p:spPr>
        <p:txBody>
          <a:bodyPr wrap="square" lIns="0" rIns="0" tIns="0" bIns="0" anchor="t">
            <a:spAutoFit/>
          </a:bodyPr>
          <a:lstStyle/>
          <a:p>
            <a:pPr algn="l">
              <a:lnSpc>
                <a:spcPct val="115000"/>
              </a:lnSpc>
            </a:pPr>
            <a:r>
              <a:rPr sz="4600" b="1">
                <a:solidFill>
                  <a:srgbClr val="141514"/>
                </a:solidFill>
                <a:latin typeface="Courier New"/>
              </a:rPr>
              <a:t>4,214</a:t>
            </a:r>
          </a:p>
        </p:txBody>
      </p:sp>
      <p:sp>
        <p:nvSpPr>
          <p:cNvPr id="20" name="TextBox 19"/>
          <p:cNvSpPr txBox="1"/>
          <p:nvPr/>
        </p:nvSpPr>
        <p:spPr>
          <a:xfrm>
            <a:off x="9210065" y="2976435"/>
            <a:ext cx="2204389" cy="320040"/>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Credit unions</a:t>
            </a:r>
          </a:p>
        </p:txBody>
      </p:sp>
      <p:sp>
        <p:nvSpPr>
          <p:cNvPr id="21" name="TextBox 20"/>
          <p:cNvSpPr txBox="1"/>
          <p:nvPr/>
        </p:nvSpPr>
        <p:spPr>
          <a:xfrm>
            <a:off x="9210065" y="3287331"/>
            <a:ext cx="2204389"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Our first customers</a:t>
            </a:r>
          </a:p>
        </p:txBody>
      </p:sp>
      <p:sp>
        <p:nvSpPr>
          <p:cNvPr id="22" name="TextBox 21"/>
          <p:cNvSpPr txBox="1"/>
          <p:nvPr/>
        </p:nvSpPr>
        <p:spPr>
          <a:xfrm>
            <a:off x="612648" y="4624720"/>
            <a:ext cx="10966399" cy="822960"/>
          </a:xfrm>
          <a:prstGeom prst="rect">
            <a:avLst/>
          </a:prstGeom>
          <a:noFill/>
        </p:spPr>
        <p:txBody>
          <a:bodyPr wrap="square" lIns="0" rIns="0" tIns="0" bIns="0" anchor="t">
            <a:spAutoFit/>
          </a:bodyPr>
          <a:lstStyle/>
          <a:p>
            <a:pPr algn="l">
              <a:lnSpc>
                <a:spcPct val="125000"/>
              </a:lnSpc>
            </a:pPr>
            <a:r>
              <a:rPr sz="1850" b="1">
                <a:solidFill>
                  <a:srgbClr val="141514"/>
                </a:solidFill>
                <a:latin typeface="Arial"/>
              </a:rPr>
              <a:t>Every one of those turn-downs needs a letter, and most letters say nothing.</a:t>
            </a:r>
          </a:p>
          <a:p>
            <a:pPr algn="l">
              <a:lnSpc>
                <a:spcPct val="125000"/>
              </a:lnSpc>
            </a:pPr>
            <a:r>
              <a:rPr sz="1250" b="0">
                <a:solidFill>
                  <a:srgbClr val="565952"/>
                </a:solidFill>
                <a:latin typeface="Arial"/>
              </a:rPr>
              <a:t>Federal law requires the real reasons. Too many letters say "internal standards" instead. That's what's broken.</a:t>
            </a:r>
          </a:p>
        </p:txBody>
      </p:sp>
      <p:sp>
        <p:nvSpPr>
          <p:cNvPr id="23"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A record lending market, and the no is the part nobody has fixed.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12648" y="308228"/>
            <a:ext cx="133350" cy="133350"/>
          </a:xfrm>
          <a:prstGeom prst="rect">
            <a:avLst/>
          </a:prstGeom>
          <a:solidFill>
            <a:srgbClr val="FF5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06005" y="250443"/>
            <a:ext cx="8449056" cy="248919"/>
          </a:xfrm>
          <a:prstGeom prst="rect">
            <a:avLst/>
          </a:prstGeom>
          <a:noFill/>
        </p:spPr>
        <p:txBody>
          <a:bodyPr wrap="none" lIns="0" rIns="0" tIns="0" bIns="0" anchor="ctr">
            <a:spAutoFit/>
          </a:bodyPr>
          <a:lstStyle/>
          <a:p>
            <a:pPr algn="l">
              <a:lnSpc>
                <a:spcPct val="100000"/>
              </a:lnSpc>
            </a:pPr>
            <a:r>
              <a:rPr sz="1400" b="1">
                <a:solidFill>
                  <a:srgbClr val="141514"/>
                </a:solidFill>
                <a:latin typeface="Arial"/>
              </a:rPr>
              <a:t>DOCKET</a:t>
            </a:r>
          </a:p>
        </p:txBody>
      </p:sp>
      <p:sp>
        <p:nvSpPr>
          <p:cNvPr id="4" name="Title"/>
          <p:cNvSpPr txBox="1"/>
          <p:nvPr/>
        </p:nvSpPr>
        <p:spPr>
          <a:xfrm>
            <a:off x="612648" y="658368"/>
            <a:ext cx="10966399" cy="914400"/>
          </a:xfrm>
          <a:prstGeom prst="rect">
            <a:avLst/>
          </a:prstGeom>
          <a:noFill/>
        </p:spPr>
        <p:txBody>
          <a:bodyPr wrap="square" lIns="0" rIns="0" tIns="0" bIns="0" anchor="t">
            <a:spAutoFit/>
          </a:bodyPr>
          <a:lstStyle/>
          <a:p>
            <a:pPr algn="l">
              <a:lnSpc>
                <a:spcPct val="110000"/>
              </a:lnSpc>
            </a:pPr>
            <a:r>
              <a:rPr sz="2400" b="1">
                <a:solidFill>
                  <a:srgbClr val="141514"/>
                </a:solidFill>
                <a:latin typeface="Arial"/>
              </a:rPr>
              <a:t>The business: credit unions pay per decided application, and every new lender is just a new policy file</a:t>
            </a:r>
          </a:p>
        </p:txBody>
      </p:sp>
      <p:sp>
        <p:nvSpPr>
          <p:cNvPr id="5" name="PageNum"/>
          <p:cNvSpPr txBox="1"/>
          <p:nvPr/>
        </p:nvSpPr>
        <p:spPr>
          <a:xfrm>
            <a:off x="11030407" y="6400800"/>
            <a:ext cx="548640" cy="274320"/>
          </a:xfrm>
          <a:prstGeom prst="rect">
            <a:avLst/>
          </a:prstGeom>
          <a:noFill/>
        </p:spPr>
        <p:txBody>
          <a:bodyPr wrap="square" lIns="0" rIns="0" tIns="0" bIns="0" anchor="b">
            <a:spAutoFit/>
          </a:bodyPr>
          <a:lstStyle/>
          <a:p>
            <a:pPr algn="r">
              <a:lnSpc>
                <a:spcPct val="115000"/>
              </a:lnSpc>
            </a:pPr>
            <a:r>
              <a:rPr sz="800" b="0">
                <a:solidFill>
                  <a:srgbClr val="565952"/>
                </a:solidFill>
                <a:latin typeface="Courier New"/>
              </a:rPr>
              <a:t>9</a:t>
            </a:r>
          </a:p>
        </p:txBody>
      </p:sp>
      <p:sp>
        <p:nvSpPr>
          <p:cNvPr id="6" name="Rectangle 5"/>
          <p:cNvSpPr/>
          <p:nvPr/>
        </p:nvSpPr>
        <p:spPr>
          <a:xfrm>
            <a:off x="612648" y="1633728"/>
            <a:ext cx="3472586" cy="2900945"/>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1770863"/>
            <a:ext cx="3106826"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WHO PAYS</a:t>
            </a:r>
          </a:p>
        </p:txBody>
      </p:sp>
      <p:sp>
        <p:nvSpPr>
          <p:cNvPr id="8" name="TextBox 7"/>
          <p:cNvSpPr txBox="1"/>
          <p:nvPr/>
        </p:nvSpPr>
        <p:spPr>
          <a:xfrm>
            <a:off x="813816" y="2129526"/>
            <a:ext cx="3070250" cy="419607"/>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Credit unions and community banks</a:t>
            </a:r>
          </a:p>
        </p:txBody>
      </p:sp>
      <p:sp>
        <p:nvSpPr>
          <p:cNvPr id="9" name="TextBox 8"/>
          <p:cNvSpPr txBox="1"/>
          <p:nvPr/>
        </p:nvSpPr>
        <p:spPr>
          <a:xfrm>
            <a:off x="813816" y="2567420"/>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4,214 federally insured credit unions in the U.S.</a:t>
            </a:r>
          </a:p>
        </p:txBody>
      </p:sp>
      <p:sp>
        <p:nvSpPr>
          <p:cNvPr id="10" name="TextBox 9"/>
          <p:cNvSpPr txBox="1"/>
          <p:nvPr/>
        </p:nvSpPr>
        <p:spPr>
          <a:xfrm>
            <a:off x="813816" y="3330925"/>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The loan officer is the user</a:t>
            </a:r>
          </a:p>
        </p:txBody>
      </p:sp>
      <p:sp>
        <p:nvSpPr>
          <p:cNvPr id="11" name="TextBox 10"/>
          <p:cNvSpPr txBox="1"/>
          <p:nvPr/>
        </p:nvSpPr>
        <p:spPr>
          <a:xfrm>
            <a:off x="813816" y="3641821"/>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One person runs the desk; Docket does the legwork</a:t>
            </a:r>
          </a:p>
        </p:txBody>
      </p:sp>
      <p:sp>
        <p:nvSpPr>
          <p:cNvPr id="12" name="Rectangle 11"/>
          <p:cNvSpPr/>
          <p:nvPr/>
        </p:nvSpPr>
        <p:spPr>
          <a:xfrm>
            <a:off x="4359554" y="1633728"/>
            <a:ext cx="3472586" cy="2900945"/>
          </a:xfrm>
          <a:prstGeom prst="rect">
            <a:avLst/>
          </a:prstGeom>
          <a:solidFill>
            <a:srgbClr val="F5F5F1"/>
          </a:solid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0722" y="1770863"/>
            <a:ext cx="3106826"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WHAT THEY PAY (PROPOSED)</a:t>
            </a:r>
          </a:p>
        </p:txBody>
      </p:sp>
      <p:sp>
        <p:nvSpPr>
          <p:cNvPr id="14" name="TextBox 13"/>
          <p:cNvSpPr txBox="1"/>
          <p:nvPr/>
        </p:nvSpPr>
        <p:spPr>
          <a:xfrm>
            <a:off x="4560722" y="2129526"/>
            <a:ext cx="3070250" cy="292608"/>
          </a:xfrm>
          <a:prstGeom prst="rect">
            <a:avLst/>
          </a:prstGeom>
          <a:noFill/>
        </p:spPr>
        <p:txBody>
          <a:bodyPr wrap="square" lIns="0" rIns="0" tIns="0" bIns="0" anchor="t">
            <a:spAutoFit/>
          </a:bodyPr>
          <a:lstStyle/>
          <a:p>
            <a:pPr algn="l">
              <a:lnSpc>
                <a:spcPct val="115000"/>
              </a:lnSpc>
            </a:pPr>
            <a:r>
              <a:rPr sz="1400" b="1">
                <a:solidFill>
                  <a:srgbClr val="1C46C9"/>
                </a:solidFill>
                <a:latin typeface="Arial"/>
              </a:rPr>
              <a:t>$5 per decided application</a:t>
            </a:r>
          </a:p>
        </p:txBody>
      </p:sp>
      <p:sp>
        <p:nvSpPr>
          <p:cNvPr id="15" name="TextBox 14"/>
          <p:cNvSpPr txBox="1"/>
          <p:nvPr/>
        </p:nvSpPr>
        <p:spPr>
          <a:xfrm>
            <a:off x="4560722" y="2440422"/>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Tested reasons and the notice included</a:t>
            </a:r>
          </a:p>
        </p:txBody>
      </p:sp>
      <p:sp>
        <p:nvSpPr>
          <p:cNvPr id="16" name="TextBox 15"/>
          <p:cNvSpPr txBox="1"/>
          <p:nvPr/>
        </p:nvSpPr>
        <p:spPr>
          <a:xfrm>
            <a:off x="4560722" y="3184415"/>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500 applications a month = $2,500</a:t>
            </a:r>
          </a:p>
        </p:txBody>
      </p:sp>
      <p:sp>
        <p:nvSpPr>
          <p:cNvPr id="17" name="TextBox 16"/>
          <p:cNvSpPr txBox="1"/>
          <p:nvPr/>
        </p:nvSpPr>
        <p:spPr>
          <a:xfrm>
            <a:off x="4560722" y="3495311"/>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Bureau pull passed through at cost</a:t>
            </a:r>
          </a:p>
        </p:txBody>
      </p:sp>
      <p:sp>
        <p:nvSpPr>
          <p:cNvPr id="18" name="Rectangle 17"/>
          <p:cNvSpPr/>
          <p:nvPr/>
        </p:nvSpPr>
        <p:spPr>
          <a:xfrm>
            <a:off x="8106460" y="1633728"/>
            <a:ext cx="3472586" cy="2900945"/>
          </a:xfrm>
          <a:prstGeom prst="rect">
            <a:avLst/>
          </a:prstGeom>
          <a:noFill/>
          <a:ln w="9525">
            <a:solidFill>
              <a:srgbClr val="C9CBC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7628" y="1770863"/>
            <a:ext cx="3106826" cy="228600"/>
          </a:xfrm>
          <a:prstGeom prst="rect">
            <a:avLst/>
          </a:prstGeom>
          <a:noFill/>
        </p:spPr>
        <p:txBody>
          <a:bodyPr wrap="square" lIns="0" rIns="0" tIns="0" bIns="0" anchor="t">
            <a:spAutoFit/>
          </a:bodyPr>
          <a:lstStyle/>
          <a:p>
            <a:pPr algn="l">
              <a:lnSpc>
                <a:spcPct val="115000"/>
              </a:lnSpc>
            </a:pPr>
            <a:r>
              <a:rPr sz="900" b="0">
                <a:solidFill>
                  <a:srgbClr val="565952"/>
                </a:solidFill>
                <a:latin typeface="Courier New"/>
              </a:rPr>
              <a:t>WHY IT SCALES</a:t>
            </a:r>
          </a:p>
        </p:txBody>
      </p:sp>
      <p:sp>
        <p:nvSpPr>
          <p:cNvPr id="20" name="TextBox 19"/>
          <p:cNvSpPr txBox="1"/>
          <p:nvPr/>
        </p:nvSpPr>
        <p:spPr>
          <a:xfrm>
            <a:off x="8307628" y="2129526"/>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Model cost about 3¢ per application</a:t>
            </a:r>
          </a:p>
        </p:txBody>
      </p:sp>
      <p:sp>
        <p:nvSpPr>
          <p:cNvPr id="21" name="TextBox 20"/>
          <p:cNvSpPr txBox="1"/>
          <p:nvPr/>
        </p:nvSpPr>
        <p:spPr>
          <a:xfrm>
            <a:off x="8307628" y="2440422"/>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Under 1% of the price</a:t>
            </a:r>
          </a:p>
        </p:txBody>
      </p:sp>
      <p:sp>
        <p:nvSpPr>
          <p:cNvPr id="22" name="TextBox 21"/>
          <p:cNvSpPr txBox="1"/>
          <p:nvPr/>
        </p:nvSpPr>
        <p:spPr>
          <a:xfrm>
            <a:off x="8307628" y="3184415"/>
            <a:ext cx="3070250" cy="292608"/>
          </a:xfrm>
          <a:prstGeom prst="rect">
            <a:avLst/>
          </a:prstGeom>
          <a:noFill/>
        </p:spPr>
        <p:txBody>
          <a:bodyPr wrap="square" lIns="0" rIns="0" tIns="0" bIns="0" anchor="t">
            <a:spAutoFit/>
          </a:bodyPr>
          <a:lstStyle/>
          <a:p>
            <a:pPr algn="l">
              <a:lnSpc>
                <a:spcPct val="115000"/>
              </a:lnSpc>
            </a:pPr>
            <a:r>
              <a:rPr sz="1400" b="1">
                <a:solidFill>
                  <a:srgbClr val="141514"/>
                </a:solidFill>
                <a:latin typeface="Arial"/>
              </a:rPr>
              <a:t>A new lender is a new policy file</a:t>
            </a:r>
          </a:p>
        </p:txBody>
      </p:sp>
      <p:sp>
        <p:nvSpPr>
          <p:cNvPr id="23" name="TextBox 22"/>
          <p:cNvSpPr txBox="1"/>
          <p:nvPr/>
        </p:nvSpPr>
        <p:spPr>
          <a:xfrm>
            <a:off x="8307628" y="3495311"/>
            <a:ext cx="3070250" cy="365760"/>
          </a:xfrm>
          <a:prstGeom prst="rect">
            <a:avLst/>
          </a:prstGeom>
          <a:noFill/>
        </p:spPr>
        <p:txBody>
          <a:bodyPr wrap="square" lIns="0" rIns="0" tIns="0" bIns="0" anchor="t">
            <a:spAutoFit/>
          </a:bodyPr>
          <a:lstStyle/>
          <a:p>
            <a:pPr algn="l">
              <a:lnSpc>
                <a:spcPct val="115000"/>
              </a:lnSpc>
            </a:pPr>
            <a:r>
              <a:rPr sz="1000" b="0">
                <a:solidFill>
                  <a:srgbClr val="565952"/>
                </a:solidFill>
                <a:latin typeface="Arial"/>
              </a:rPr>
              <a:t>Same agents, same tests, no rebuild</a:t>
            </a:r>
          </a:p>
        </p:txBody>
      </p:sp>
      <p:sp>
        <p:nvSpPr>
          <p:cNvPr id="24" name="TextBox 23"/>
          <p:cNvSpPr txBox="1"/>
          <p:nvPr/>
        </p:nvSpPr>
        <p:spPr>
          <a:xfrm>
            <a:off x="612648" y="4944906"/>
            <a:ext cx="10966399" cy="548640"/>
          </a:xfrm>
          <a:prstGeom prst="rect">
            <a:avLst/>
          </a:prstGeom>
          <a:noFill/>
        </p:spPr>
        <p:txBody>
          <a:bodyPr wrap="square" lIns="0" rIns="0" tIns="0" bIns="0" anchor="t">
            <a:spAutoFit/>
          </a:bodyPr>
          <a:lstStyle/>
          <a:p>
            <a:pPr algn="l">
              <a:lnSpc>
                <a:spcPct val="115000"/>
              </a:lnSpc>
            </a:pPr>
            <a:r>
              <a:rPr sz="1550" b="1">
                <a:solidFill>
                  <a:srgbClr val="141514"/>
                </a:solidFill>
                <a:latin typeface="Arial"/>
              </a:rPr>
              <a:t>Next: a lender network.</a:t>
            </a:r>
            <a:r>
              <a:rPr sz="1300" b="0">
                <a:solidFill>
                  <a:srgbClr val="565952"/>
                </a:solidFill>
                <a:latin typeface="Arial"/>
              </a:rPr>
              <a:t> Outside lenders plug in their own policy file, and we earn a referral fee on funded loans.</a:t>
            </a:r>
          </a:p>
        </p:txBody>
      </p:sp>
      <p:sp>
        <p:nvSpPr>
          <p:cNvPr id="25" name="Takeaway"/>
          <p:cNvSpPr/>
          <p:nvPr/>
        </p:nvSpPr>
        <p:spPr>
          <a:xfrm>
            <a:off x="612648" y="5852160"/>
            <a:ext cx="10966399" cy="502920"/>
          </a:xfrm>
          <a:prstGeom prst="rect">
            <a:avLst/>
          </a:prstGeom>
          <a:solidFill>
            <a:srgbClr val="F5F5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akeawayText"/>
          <p:cNvSpPr txBox="1"/>
          <p:nvPr/>
        </p:nvSpPr>
        <p:spPr>
          <a:xfrm>
            <a:off x="813816" y="5961888"/>
            <a:ext cx="10564063" cy="283464"/>
          </a:xfrm>
          <a:prstGeom prst="rect">
            <a:avLst/>
          </a:prstGeom>
          <a:noFill/>
        </p:spPr>
        <p:txBody>
          <a:bodyPr wrap="square" lIns="0" rIns="0" tIns="0" bIns="0" anchor="ctr">
            <a:spAutoFit/>
          </a:bodyPr>
          <a:lstStyle/>
          <a:p>
            <a:pPr algn="l">
              <a:lnSpc>
                <a:spcPct val="120000"/>
              </a:lnSpc>
            </a:pPr>
            <a:r>
              <a:rPr sz="1400" b="1">
                <a:solidFill>
                  <a:srgbClr val="141514"/>
                </a:solidFill>
                <a:latin typeface="Arial"/>
              </a:rPr>
              <a:t>Cents to run, dollars to sell, and every new customer is a policy file, not a rebuild.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